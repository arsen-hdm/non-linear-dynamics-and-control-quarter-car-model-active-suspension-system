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Telegraf" charset="1" panose="00000500000000000000"/>
      <p:regular r:id="rId18"/>
    </p:embeddedFont>
    <p:embeddedFont>
      <p:font typeface="Telegraf Bold" charset="1" panose="000008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VAHCzMnkDkg.mp4" Type="http://schemas.openxmlformats.org/officeDocument/2006/relationships/video"/><Relationship Id="rId4" Target="../media/VAHCzMnkDkg.mp4" Type="http://schemas.microsoft.com/office/2007/relationships/media"/></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28.png" Type="http://schemas.openxmlformats.org/officeDocument/2006/relationships/image"/><Relationship Id="rId8" Target="../media/image2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39.png" Type="http://schemas.openxmlformats.org/officeDocument/2006/relationships/image"/><Relationship Id="rId12" Target="../media/image40.png" Type="http://schemas.openxmlformats.org/officeDocument/2006/relationships/image"/><Relationship Id="rId2" Target="../media/image30.pn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 Id="rId8" Target="../media/image36.png" Type="http://schemas.openxmlformats.org/officeDocument/2006/relationships/image"/><Relationship Id="rId9" Target="../media/image3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2" Target="../media/image41.png" Type="http://schemas.openxmlformats.org/officeDocument/2006/relationships/image"/><Relationship Id="rId3" Target="../media/image42.pn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 Id="rId7" Target="../media/image46.png" Type="http://schemas.openxmlformats.org/officeDocument/2006/relationships/image"/><Relationship Id="rId8" Target="../media/image47.png" Type="http://schemas.openxmlformats.org/officeDocument/2006/relationships/image"/><Relationship Id="rId9" Target="../media/image4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 Id="rId5" Target="../media/image53.png" Type="http://schemas.openxmlformats.org/officeDocument/2006/relationships/image"/><Relationship Id="rId6" Target="../media/image54.png" Type="http://schemas.openxmlformats.org/officeDocument/2006/relationships/image"/><Relationship Id="rId7" Target="../media/image5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57.png" Type="http://schemas.openxmlformats.org/officeDocument/2006/relationships/image"/><Relationship Id="rId4" Target="../media/image58.png" Type="http://schemas.openxmlformats.org/officeDocument/2006/relationships/image"/><Relationship Id="rId5" Target="../media/image59.png" Type="http://schemas.openxmlformats.org/officeDocument/2006/relationships/image"/><Relationship Id="rId6" Target="../media/image60.png" Type="http://schemas.openxmlformats.org/officeDocument/2006/relationships/image"/><Relationship Id="rId7" Target="../media/image6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2.png" Type="http://schemas.openxmlformats.org/officeDocument/2006/relationships/image"/><Relationship Id="rId3" Target="../media/image63.png" Type="http://schemas.openxmlformats.org/officeDocument/2006/relationships/image"/><Relationship Id="rId4" Target="../media/image64.png" Type="http://schemas.openxmlformats.org/officeDocument/2006/relationships/image"/><Relationship Id="rId5" Target="../media/image65.png" Type="http://schemas.openxmlformats.org/officeDocument/2006/relationships/image"/><Relationship Id="rId6" Target="../media/image6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714E"/>
        </a:solidFill>
      </p:bgPr>
    </p:bg>
    <p:spTree>
      <p:nvGrpSpPr>
        <p:cNvPr id="1" name=""/>
        <p:cNvGrpSpPr/>
        <p:nvPr/>
      </p:nvGrpSpPr>
      <p:grpSpPr>
        <a:xfrm>
          <a:off x="0" y="0"/>
          <a:ext cx="0" cy="0"/>
          <a:chOff x="0" y="0"/>
          <a:chExt cx="0" cy="0"/>
        </a:xfrm>
      </p:grpSpPr>
      <p:sp>
        <p:nvSpPr>
          <p:cNvPr name="Freeform 2" id="2"/>
          <p:cNvSpPr/>
          <p:nvPr/>
        </p:nvSpPr>
        <p:spPr>
          <a:xfrm flipH="false" flipV="false" rot="0">
            <a:off x="7613928" y="3356129"/>
            <a:ext cx="10639280" cy="6893218"/>
          </a:xfrm>
          <a:custGeom>
            <a:avLst/>
            <a:gdLst/>
            <a:ahLst/>
            <a:cxnLst/>
            <a:rect r="r" b="b" t="t" l="l"/>
            <a:pathLst>
              <a:path h="6893218" w="10639280">
                <a:moveTo>
                  <a:pt x="0" y="0"/>
                </a:moveTo>
                <a:lnTo>
                  <a:pt x="10639280" y="0"/>
                </a:lnTo>
                <a:lnTo>
                  <a:pt x="10639280" y="6893217"/>
                </a:lnTo>
                <a:lnTo>
                  <a:pt x="0" y="6893217"/>
                </a:lnTo>
                <a:lnTo>
                  <a:pt x="0" y="0"/>
                </a:lnTo>
                <a:close/>
              </a:path>
            </a:pathLst>
          </a:custGeom>
          <a:blipFill>
            <a:blip r:embed="rId2">
              <a:extLst>
                <a:ext uri="{96DAC541-7B7A-43D3-8B79-37D633B846F1}">
                  <asvg:svgBlip xmlns:asvg="http://schemas.microsoft.com/office/drawing/2016/SVG/main" r:embed="rId3"/>
                </a:ext>
              </a:extLst>
            </a:blip>
            <a:stretch>
              <a:fillRect l="0" t="-813" r="-14388" b="-55574"/>
            </a:stretch>
          </a:blipFill>
        </p:spPr>
      </p:sp>
      <p:grpSp>
        <p:nvGrpSpPr>
          <p:cNvPr name="Group 3" id="3"/>
          <p:cNvGrpSpPr/>
          <p:nvPr/>
        </p:nvGrpSpPr>
        <p:grpSpPr>
          <a:xfrm rot="0">
            <a:off x="1028700" y="5649557"/>
            <a:ext cx="6073998" cy="2067216"/>
            <a:chOff x="0" y="0"/>
            <a:chExt cx="8098664" cy="2756288"/>
          </a:xfrm>
        </p:grpSpPr>
        <p:sp>
          <p:nvSpPr>
            <p:cNvPr name="AutoShape 4" id="4"/>
            <p:cNvSpPr/>
            <p:nvPr/>
          </p:nvSpPr>
          <p:spPr>
            <a:xfrm>
              <a:off x="0" y="6350"/>
              <a:ext cx="8098664" cy="0"/>
            </a:xfrm>
            <a:prstGeom prst="line">
              <a:avLst/>
            </a:prstGeom>
            <a:ln cap="flat" w="12700">
              <a:solidFill>
                <a:srgbClr val="F4F4F4"/>
              </a:solidFill>
              <a:prstDash val="solid"/>
              <a:headEnd type="none" len="sm" w="sm"/>
              <a:tailEnd type="none" len="sm" w="sm"/>
            </a:ln>
          </p:spPr>
        </p:sp>
        <p:sp>
          <p:nvSpPr>
            <p:cNvPr name="TextBox 5" id="5"/>
            <p:cNvSpPr txBox="true"/>
            <p:nvPr/>
          </p:nvSpPr>
          <p:spPr>
            <a:xfrm rot="0">
              <a:off x="0" y="949713"/>
              <a:ext cx="8098664" cy="1806575"/>
            </a:xfrm>
            <a:prstGeom prst="rect">
              <a:avLst/>
            </a:prstGeom>
          </p:spPr>
          <p:txBody>
            <a:bodyPr anchor="t" rtlCol="false" tIns="0" lIns="0" bIns="0" rIns="0">
              <a:spAutoFit/>
            </a:bodyPr>
            <a:lstStyle/>
            <a:p>
              <a:pPr algn="l">
                <a:lnSpc>
                  <a:spcPts val="2160"/>
                </a:lnSpc>
              </a:pPr>
              <a:r>
                <a:rPr lang="en-US" sz="1800">
                  <a:solidFill>
                    <a:srgbClr val="F4F4F4"/>
                  </a:solidFill>
                  <a:latin typeface="Telegraf"/>
                  <a:ea typeface="Telegraf"/>
                  <a:cs typeface="Telegraf"/>
                  <a:sym typeface="Telegraf"/>
                </a:rPr>
                <a:t>DIPARTIMENTO DI INGEGNERIA ELETTRICA E DELLE TECNOLOGIE </a:t>
              </a:r>
              <a:r>
                <a:rPr lang="en-US" sz="1800">
                  <a:solidFill>
                    <a:srgbClr val="F4F4F4"/>
                  </a:solidFill>
                  <a:latin typeface="Telegraf"/>
                  <a:ea typeface="Telegraf"/>
                  <a:cs typeface="Telegraf"/>
                  <a:sym typeface="Telegraf"/>
                </a:rPr>
                <a:t>dell’Informazione</a:t>
              </a:r>
            </a:p>
            <a:p>
              <a:pPr algn="l">
                <a:lnSpc>
                  <a:spcPts val="2160"/>
                </a:lnSpc>
              </a:pPr>
              <a:r>
                <a:rPr lang="en-US" sz="1800">
                  <a:solidFill>
                    <a:srgbClr val="F4F4F4"/>
                  </a:solidFill>
                  <a:latin typeface="Telegraf"/>
                  <a:ea typeface="Telegraf"/>
                  <a:cs typeface="Telegraf"/>
                  <a:sym typeface="Telegraf"/>
                </a:rPr>
                <a:t>Corso di Laurea Magistrale in Ingegneria dell'Automazione e Robotica (P38) </a:t>
              </a:r>
            </a:p>
            <a:p>
              <a:pPr algn="l">
                <a:lnSpc>
                  <a:spcPts val="2160"/>
                </a:lnSpc>
              </a:pPr>
            </a:p>
          </p:txBody>
        </p:sp>
        <p:sp>
          <p:nvSpPr>
            <p:cNvPr name="TextBox 6" id="6"/>
            <p:cNvSpPr txBox="true"/>
            <p:nvPr/>
          </p:nvSpPr>
          <p:spPr>
            <a:xfrm rot="0">
              <a:off x="0" y="255870"/>
              <a:ext cx="8098664" cy="551392"/>
            </a:xfrm>
            <a:prstGeom prst="rect">
              <a:avLst/>
            </a:prstGeom>
          </p:spPr>
          <p:txBody>
            <a:bodyPr anchor="t" rtlCol="false" tIns="0" lIns="0" bIns="0" rIns="0">
              <a:spAutoFit/>
            </a:bodyPr>
            <a:lstStyle/>
            <a:p>
              <a:pPr algn="l">
                <a:lnSpc>
                  <a:spcPts val="3250"/>
                </a:lnSpc>
              </a:pPr>
              <a:r>
                <a:rPr lang="en-US" sz="2500">
                  <a:solidFill>
                    <a:srgbClr val="F4F4F4"/>
                  </a:solidFill>
                  <a:latin typeface="Telegraf"/>
                  <a:ea typeface="Telegraf"/>
                  <a:cs typeface="Telegraf"/>
                  <a:sym typeface="Telegraf"/>
                </a:rPr>
                <a:t>Student : Hudyma Arsen</a:t>
              </a:r>
            </a:p>
          </p:txBody>
        </p:sp>
      </p:grpSp>
      <p:sp>
        <p:nvSpPr>
          <p:cNvPr name="Freeform 7" id="7"/>
          <p:cNvSpPr/>
          <p:nvPr/>
        </p:nvSpPr>
        <p:spPr>
          <a:xfrm flipH="false" flipV="false" rot="0">
            <a:off x="14288136" y="339376"/>
            <a:ext cx="2971164" cy="2674047"/>
          </a:xfrm>
          <a:custGeom>
            <a:avLst/>
            <a:gdLst/>
            <a:ahLst/>
            <a:cxnLst/>
            <a:rect r="r" b="b" t="t" l="l"/>
            <a:pathLst>
              <a:path h="2674047" w="2971164">
                <a:moveTo>
                  <a:pt x="0" y="0"/>
                </a:moveTo>
                <a:lnTo>
                  <a:pt x="2971164" y="0"/>
                </a:lnTo>
                <a:lnTo>
                  <a:pt x="2971164" y="2674048"/>
                </a:lnTo>
                <a:lnTo>
                  <a:pt x="0" y="2674048"/>
                </a:lnTo>
                <a:lnTo>
                  <a:pt x="0" y="0"/>
                </a:lnTo>
                <a:close/>
              </a:path>
            </a:pathLst>
          </a:custGeom>
          <a:blipFill>
            <a:blip r:embed="rId4"/>
            <a:stretch>
              <a:fillRect l="0" t="0" r="0" b="0"/>
            </a:stretch>
          </a:blipFill>
        </p:spPr>
      </p:sp>
      <p:sp>
        <p:nvSpPr>
          <p:cNvPr name="TextBox 8" id="8"/>
          <p:cNvSpPr txBox="true"/>
          <p:nvPr/>
        </p:nvSpPr>
        <p:spPr>
          <a:xfrm rot="0">
            <a:off x="14577998" y="2984849"/>
            <a:ext cx="2391441" cy="1095375"/>
          </a:xfrm>
          <a:prstGeom prst="rect">
            <a:avLst/>
          </a:prstGeom>
        </p:spPr>
        <p:txBody>
          <a:bodyPr anchor="t" rtlCol="false" tIns="0" lIns="0" bIns="0" rIns="0">
            <a:spAutoFit/>
          </a:bodyPr>
          <a:lstStyle/>
          <a:p>
            <a:pPr algn="ctr">
              <a:lnSpc>
                <a:spcPts val="2160"/>
              </a:lnSpc>
            </a:pPr>
            <a:r>
              <a:rPr lang="en-US" b="true" sz="1800">
                <a:solidFill>
                  <a:srgbClr val="F4F4F4"/>
                </a:solidFill>
                <a:latin typeface="Telegraf Bold"/>
                <a:ea typeface="Telegraf Bold"/>
                <a:cs typeface="Telegraf Bold"/>
                <a:sym typeface="Telegraf Bold"/>
              </a:rPr>
              <a:t>UNIVERSITÀ DEGLI STUDI DI NAPOLI FEDERICO II</a:t>
            </a:r>
          </a:p>
          <a:p>
            <a:pPr algn="ctr">
              <a:lnSpc>
                <a:spcPts val="2160"/>
              </a:lnSpc>
            </a:pPr>
          </a:p>
        </p:txBody>
      </p:sp>
      <p:sp>
        <p:nvSpPr>
          <p:cNvPr name="TextBox 9" id="9"/>
          <p:cNvSpPr txBox="true"/>
          <p:nvPr/>
        </p:nvSpPr>
        <p:spPr>
          <a:xfrm rot="0">
            <a:off x="1028700" y="933450"/>
            <a:ext cx="12515652" cy="2686050"/>
          </a:xfrm>
          <a:prstGeom prst="rect">
            <a:avLst/>
          </a:prstGeom>
        </p:spPr>
        <p:txBody>
          <a:bodyPr anchor="t" rtlCol="false" tIns="0" lIns="0" bIns="0" rIns="0">
            <a:spAutoFit/>
          </a:bodyPr>
          <a:lstStyle/>
          <a:p>
            <a:pPr algn="l">
              <a:lnSpc>
                <a:spcPts val="10200"/>
              </a:lnSpc>
            </a:pPr>
            <a:r>
              <a:rPr lang="en-US" sz="8500">
                <a:solidFill>
                  <a:srgbClr val="F4F4F4"/>
                </a:solidFill>
                <a:latin typeface="Telegraf"/>
                <a:ea typeface="Telegraf"/>
                <a:cs typeface="Telegraf"/>
                <a:sym typeface="Telegraf"/>
              </a:rPr>
              <a:t>Final Project Discussion</a:t>
            </a:r>
          </a:p>
          <a:p>
            <a:pPr algn="l">
              <a:lnSpc>
                <a:spcPts val="10200"/>
              </a:lnSpc>
            </a:pPr>
            <a:r>
              <a:rPr lang="en-US" sz="8500">
                <a:solidFill>
                  <a:srgbClr val="F4F4F4"/>
                </a:solidFill>
                <a:latin typeface="Telegraf"/>
                <a:ea typeface="Telegraf"/>
                <a:cs typeface="Telegraf"/>
                <a:sym typeface="Telegraf"/>
              </a:rPr>
              <a:t>of NLDC:</a:t>
            </a:r>
          </a:p>
        </p:txBody>
      </p:sp>
      <p:sp>
        <p:nvSpPr>
          <p:cNvPr name="TextBox 10" id="10"/>
          <p:cNvSpPr txBox="true"/>
          <p:nvPr/>
        </p:nvSpPr>
        <p:spPr>
          <a:xfrm rot="0">
            <a:off x="1028700" y="3443605"/>
            <a:ext cx="9773792" cy="1137920"/>
          </a:xfrm>
          <a:prstGeom prst="rect">
            <a:avLst/>
          </a:prstGeom>
        </p:spPr>
        <p:txBody>
          <a:bodyPr anchor="t" rtlCol="false" tIns="0" lIns="0" bIns="0" rIns="0">
            <a:spAutoFit/>
          </a:bodyPr>
          <a:lstStyle/>
          <a:p>
            <a:pPr algn="l">
              <a:lnSpc>
                <a:spcPts val="4479"/>
              </a:lnSpc>
            </a:pPr>
            <a:r>
              <a:rPr lang="en-US" sz="3199">
                <a:solidFill>
                  <a:srgbClr val="F4F4F4"/>
                </a:solidFill>
                <a:latin typeface="Telegraf"/>
                <a:ea typeface="Telegraf"/>
                <a:cs typeface="Telegraf"/>
                <a:sym typeface="Telegraf"/>
              </a:rPr>
              <a:t>Analysis and Control of a Non-Linear Active Suspension System</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4" y="1095375"/>
            <a:ext cx="16230596" cy="1304925"/>
          </a:xfrm>
          <a:prstGeom prst="rect">
            <a:avLst/>
          </a:prstGeom>
        </p:spPr>
        <p:txBody>
          <a:bodyPr anchor="t" rtlCol="false" tIns="0" lIns="0" bIns="0" rIns="0">
            <a:spAutoFit/>
          </a:bodyPr>
          <a:lstStyle/>
          <a:p>
            <a:pPr algn="l">
              <a:lnSpc>
                <a:spcPts val="9000"/>
              </a:lnSpc>
            </a:pPr>
            <a:r>
              <a:rPr lang="en-US" sz="9000">
                <a:solidFill>
                  <a:srgbClr val="0A714E"/>
                </a:solidFill>
                <a:latin typeface="Telegraf"/>
                <a:ea typeface="Telegraf"/>
                <a:cs typeface="Telegraf"/>
                <a:sym typeface="Telegraf"/>
              </a:rPr>
              <a:t>Introduction</a:t>
            </a:r>
          </a:p>
        </p:txBody>
      </p:sp>
      <p:sp>
        <p:nvSpPr>
          <p:cNvPr name="TextBox 3" id="3"/>
          <p:cNvSpPr txBox="true"/>
          <p:nvPr/>
        </p:nvSpPr>
        <p:spPr>
          <a:xfrm rot="0">
            <a:off x="1028704" y="2848544"/>
            <a:ext cx="16230596" cy="50603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The goal of this project is to analyze and develop and Active Suspension System, which function is to improve comfort and also maintain contact between tire and the road for stability and safety issues.</a:t>
            </a:r>
          </a:p>
          <a:p>
            <a:pPr algn="just">
              <a:lnSpc>
                <a:spcPts val="3639"/>
              </a:lnSpc>
            </a:pPr>
            <a:r>
              <a:rPr lang="en-US" sz="2799" b="true">
                <a:solidFill>
                  <a:srgbClr val="444142"/>
                </a:solidFill>
                <a:latin typeface="Telegraf Bold"/>
                <a:ea typeface="Telegraf Bold"/>
                <a:cs typeface="Telegraf Bold"/>
                <a:sym typeface="Telegraf Bold"/>
              </a:rPr>
              <a:t>In the next slides there will be the mathematical model of the quarter car enhanced with Non-Linearities, then an Open-Loop analysis will be perfomed to prove stability and also to see the reference performance of the passive system.</a:t>
            </a:r>
          </a:p>
          <a:p>
            <a:pPr algn="just">
              <a:lnSpc>
                <a:spcPts val="3639"/>
              </a:lnSpc>
            </a:pPr>
            <a:r>
              <a:rPr lang="en-US" sz="2799" b="true">
                <a:solidFill>
                  <a:srgbClr val="444142"/>
                </a:solidFill>
                <a:latin typeface="Telegraf Bold"/>
                <a:ea typeface="Telegraf Bold"/>
                <a:cs typeface="Telegraf Bold"/>
                <a:sym typeface="Telegraf Bold"/>
              </a:rPr>
              <a:t>The implemented controllers are respectively an LQR controller on the linearized system but also a Non-Linear MPC which will be tested also in the case of parametric uncertainties and disturbances.</a:t>
            </a:r>
          </a:p>
          <a:p>
            <a:pPr algn="just">
              <a:lnSpc>
                <a:spcPts val="3639"/>
              </a:lnSpc>
            </a:pPr>
          </a:p>
          <a:p>
            <a:pPr algn="just">
              <a:lnSpc>
                <a:spcPts val="3639"/>
              </a:lnSpc>
            </a:pPr>
            <a:r>
              <a:rPr lang="en-US" sz="2799" b="true">
                <a:solidFill>
                  <a:srgbClr val="444142"/>
                </a:solidFill>
                <a:latin typeface="Telegraf Bold"/>
                <a:ea typeface="Telegraf Bold"/>
                <a:cs typeface="Telegraf Bold"/>
                <a:sym typeface="Telegraf Bold"/>
              </a:rPr>
              <a:t>Here’s a general example on how it works:</a:t>
            </a:r>
          </a:p>
        </p:txBody>
      </p:sp>
      <p:sp>
        <p:nvSpPr>
          <p:cNvPr name="AutoShape 4" id="4"/>
          <p:cNvSpPr/>
          <p:nvPr/>
        </p:nvSpPr>
        <p:spPr>
          <a:xfrm>
            <a:off x="1028700" y="2381250"/>
            <a:ext cx="16230600" cy="0"/>
          </a:xfrm>
          <a:prstGeom prst="line">
            <a:avLst/>
          </a:prstGeom>
          <a:ln cap="flat" w="9525">
            <a:solidFill>
              <a:srgbClr val="0A714E"/>
            </a:solidFill>
            <a:prstDash val="solid"/>
            <a:headEnd type="none" len="sm" w="sm"/>
            <a:tailEnd type="none" len="sm" w="sm"/>
          </a:ln>
        </p:spPr>
      </p:sp>
      <p:sp>
        <p:nvSpPr>
          <p:cNvPr name="TextBox 5" id="5"/>
          <p:cNvSpPr txBox="true"/>
          <p:nvPr/>
        </p:nvSpPr>
        <p:spPr>
          <a:xfrm rot="0">
            <a:off x="17259300" y="9583562"/>
            <a:ext cx="184904" cy="4883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4" y="1095375"/>
            <a:ext cx="16230596" cy="1304925"/>
          </a:xfrm>
          <a:prstGeom prst="rect">
            <a:avLst/>
          </a:prstGeom>
        </p:spPr>
        <p:txBody>
          <a:bodyPr anchor="t" rtlCol="false" tIns="0" lIns="0" bIns="0" rIns="0">
            <a:spAutoFit/>
          </a:bodyPr>
          <a:lstStyle/>
          <a:p>
            <a:pPr algn="l">
              <a:lnSpc>
                <a:spcPts val="9000"/>
              </a:lnSpc>
            </a:pPr>
            <a:r>
              <a:rPr lang="en-US" sz="9000">
                <a:solidFill>
                  <a:srgbClr val="0A714E"/>
                </a:solidFill>
                <a:latin typeface="Telegraf"/>
                <a:ea typeface="Telegraf"/>
                <a:cs typeface="Telegraf"/>
                <a:sym typeface="Telegraf"/>
              </a:rPr>
              <a:t>Introduction</a:t>
            </a:r>
          </a:p>
        </p:txBody>
      </p:sp>
      <p:sp>
        <p:nvSpPr>
          <p:cNvPr name="AutoShape 3" id="3"/>
          <p:cNvSpPr/>
          <p:nvPr/>
        </p:nvSpPr>
        <p:spPr>
          <a:xfrm>
            <a:off x="1028700" y="2381250"/>
            <a:ext cx="16230600" cy="0"/>
          </a:xfrm>
          <a:prstGeom prst="line">
            <a:avLst/>
          </a:prstGeom>
          <a:ln cap="flat" w="9525">
            <a:solidFill>
              <a:srgbClr val="0A714E"/>
            </a:solidFill>
            <a:prstDash val="solid"/>
            <a:headEnd type="none" len="sm" w="sm"/>
            <a:tailEnd type="none" len="sm" w="sm"/>
          </a:ln>
        </p:spPr>
      </p:sp>
      <p:pic>
        <p:nvPicPr>
          <p:cNvPr name="Picture 4" id="4">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2133600" y="2400300"/>
            <a:ext cx="14020800" cy="7886700"/>
          </a:xfrm>
          <a:prstGeom prst="rect">
            <a:avLst/>
          </a:prstGeom>
        </p:spPr>
      </p:pic>
      <p:sp>
        <p:nvSpPr>
          <p:cNvPr name="TextBox 5" id="5"/>
          <p:cNvSpPr txBox="true"/>
          <p:nvPr/>
        </p:nvSpPr>
        <p:spPr>
          <a:xfrm rot="0">
            <a:off x="17259300" y="9583562"/>
            <a:ext cx="245388" cy="4883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2</a:t>
            </a:r>
          </a:p>
        </p:txBody>
      </p:sp>
    </p:spTree>
  </p:cSld>
  <p:clrMapOvr>
    <a:masterClrMapping/>
  </p:clrMapOvr>
  <p:timing>
    <p:tnLst>
      <p:par>
        <p:cTn dur="indefinite" restart="never" nodeType="tmRoot">
          <p:childTnLst>
            <p:video>
              <p:cMediaNode vol="100000">
                <p:cTn fill="hold" display="false">
                  <p:stCondLst>
                    <p:cond delay="indefinite"/>
                  </p:stCondLst>
                </p:cTn>
                <p:tgtEl>
                  <p:spTgt spid="4"/>
                </p:tgtEl>
              </p:cMediaNode>
            </p:video>
          </p:childTnLst>
        </p:cTn>
      </p:par>
    </p:tnLst>
  </p:timing>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4" y="1095375"/>
            <a:ext cx="16230596" cy="1304925"/>
          </a:xfrm>
          <a:prstGeom prst="rect">
            <a:avLst/>
          </a:prstGeom>
        </p:spPr>
        <p:txBody>
          <a:bodyPr anchor="t" rtlCol="false" tIns="0" lIns="0" bIns="0" rIns="0">
            <a:spAutoFit/>
          </a:bodyPr>
          <a:lstStyle/>
          <a:p>
            <a:pPr algn="l">
              <a:lnSpc>
                <a:spcPts val="9000"/>
              </a:lnSpc>
            </a:pPr>
            <a:r>
              <a:rPr lang="en-US" sz="9000">
                <a:solidFill>
                  <a:srgbClr val="0A714E"/>
                </a:solidFill>
                <a:latin typeface="Telegraf"/>
                <a:ea typeface="Telegraf"/>
                <a:cs typeface="Telegraf"/>
                <a:sym typeface="Telegraf"/>
              </a:rPr>
              <a:t>NL Quarter Car Model</a:t>
            </a:r>
          </a:p>
        </p:txBody>
      </p:sp>
      <p:sp>
        <p:nvSpPr>
          <p:cNvPr name="AutoShape 3" id="3"/>
          <p:cNvSpPr/>
          <p:nvPr/>
        </p:nvSpPr>
        <p:spPr>
          <a:xfrm>
            <a:off x="1028700" y="2381250"/>
            <a:ext cx="16230600" cy="0"/>
          </a:xfrm>
          <a:prstGeom prst="line">
            <a:avLst/>
          </a:prstGeom>
          <a:ln cap="flat" w="9525">
            <a:solidFill>
              <a:srgbClr val="0A714E"/>
            </a:solidFill>
            <a:prstDash val="solid"/>
            <a:headEnd type="none" len="sm" w="sm"/>
            <a:tailEnd type="none" len="sm" w="sm"/>
          </a:ln>
        </p:spPr>
      </p:sp>
      <p:sp>
        <p:nvSpPr>
          <p:cNvPr name="Freeform 4" id="4"/>
          <p:cNvSpPr/>
          <p:nvPr/>
        </p:nvSpPr>
        <p:spPr>
          <a:xfrm flipH="false" flipV="false" rot="0">
            <a:off x="13256121" y="2400300"/>
            <a:ext cx="5031879" cy="3876302"/>
          </a:xfrm>
          <a:custGeom>
            <a:avLst/>
            <a:gdLst/>
            <a:ahLst/>
            <a:cxnLst/>
            <a:rect r="r" b="b" t="t" l="l"/>
            <a:pathLst>
              <a:path h="3876302" w="5031879">
                <a:moveTo>
                  <a:pt x="0" y="0"/>
                </a:moveTo>
                <a:lnTo>
                  <a:pt x="5031879" y="0"/>
                </a:lnTo>
                <a:lnTo>
                  <a:pt x="5031879" y="3876302"/>
                </a:lnTo>
                <a:lnTo>
                  <a:pt x="0" y="3876302"/>
                </a:lnTo>
                <a:lnTo>
                  <a:pt x="0" y="0"/>
                </a:lnTo>
                <a:close/>
              </a:path>
            </a:pathLst>
          </a:custGeom>
          <a:blipFill>
            <a:blip r:embed="rId2"/>
            <a:stretch>
              <a:fillRect l="0" t="0" r="0" b="0"/>
            </a:stretch>
          </a:blipFill>
        </p:spPr>
      </p:sp>
      <p:sp>
        <p:nvSpPr>
          <p:cNvPr name="Freeform 5" id="5"/>
          <p:cNvSpPr/>
          <p:nvPr/>
        </p:nvSpPr>
        <p:spPr>
          <a:xfrm flipH="false" flipV="false" rot="0">
            <a:off x="6578020" y="4083836"/>
            <a:ext cx="2967853" cy="2265781"/>
          </a:xfrm>
          <a:custGeom>
            <a:avLst/>
            <a:gdLst/>
            <a:ahLst/>
            <a:cxnLst/>
            <a:rect r="r" b="b" t="t" l="l"/>
            <a:pathLst>
              <a:path h="2265781" w="2967853">
                <a:moveTo>
                  <a:pt x="0" y="0"/>
                </a:moveTo>
                <a:lnTo>
                  <a:pt x="2967854" y="0"/>
                </a:lnTo>
                <a:lnTo>
                  <a:pt x="2967854" y="2265780"/>
                </a:lnTo>
                <a:lnTo>
                  <a:pt x="0" y="2265780"/>
                </a:lnTo>
                <a:lnTo>
                  <a:pt x="0" y="0"/>
                </a:lnTo>
                <a:close/>
              </a:path>
            </a:pathLst>
          </a:custGeom>
          <a:blipFill>
            <a:blip r:embed="rId3"/>
            <a:stretch>
              <a:fillRect l="0" t="0" r="0" b="0"/>
            </a:stretch>
          </a:blipFill>
        </p:spPr>
      </p:sp>
      <p:sp>
        <p:nvSpPr>
          <p:cNvPr name="Freeform 6" id="6"/>
          <p:cNvSpPr/>
          <p:nvPr/>
        </p:nvSpPr>
        <p:spPr>
          <a:xfrm flipH="false" flipV="false" rot="0">
            <a:off x="9993549" y="4621445"/>
            <a:ext cx="2812703" cy="1190562"/>
          </a:xfrm>
          <a:custGeom>
            <a:avLst/>
            <a:gdLst/>
            <a:ahLst/>
            <a:cxnLst/>
            <a:rect r="r" b="b" t="t" l="l"/>
            <a:pathLst>
              <a:path h="1190562" w="2812703">
                <a:moveTo>
                  <a:pt x="0" y="0"/>
                </a:moveTo>
                <a:lnTo>
                  <a:pt x="2812703" y="0"/>
                </a:lnTo>
                <a:lnTo>
                  <a:pt x="2812703" y="1190562"/>
                </a:lnTo>
                <a:lnTo>
                  <a:pt x="0" y="1190562"/>
                </a:lnTo>
                <a:lnTo>
                  <a:pt x="0" y="0"/>
                </a:lnTo>
                <a:close/>
              </a:path>
            </a:pathLst>
          </a:custGeom>
          <a:blipFill>
            <a:blip r:embed="rId4"/>
            <a:stretch>
              <a:fillRect l="0" t="0" r="0" b="0"/>
            </a:stretch>
          </a:blipFill>
        </p:spPr>
      </p:sp>
      <p:sp>
        <p:nvSpPr>
          <p:cNvPr name="Freeform 7" id="7"/>
          <p:cNvSpPr/>
          <p:nvPr/>
        </p:nvSpPr>
        <p:spPr>
          <a:xfrm flipH="false" flipV="false" rot="0">
            <a:off x="0" y="7448539"/>
            <a:ext cx="2919327" cy="1078882"/>
          </a:xfrm>
          <a:custGeom>
            <a:avLst/>
            <a:gdLst/>
            <a:ahLst/>
            <a:cxnLst/>
            <a:rect r="r" b="b" t="t" l="l"/>
            <a:pathLst>
              <a:path h="1078882" w="2919327">
                <a:moveTo>
                  <a:pt x="0" y="0"/>
                </a:moveTo>
                <a:lnTo>
                  <a:pt x="2919327" y="0"/>
                </a:lnTo>
                <a:lnTo>
                  <a:pt x="2919327" y="1078881"/>
                </a:lnTo>
                <a:lnTo>
                  <a:pt x="0" y="1078881"/>
                </a:lnTo>
                <a:lnTo>
                  <a:pt x="0" y="0"/>
                </a:lnTo>
                <a:close/>
              </a:path>
            </a:pathLst>
          </a:custGeom>
          <a:blipFill>
            <a:blip r:embed="rId5"/>
            <a:stretch>
              <a:fillRect l="0" t="0" r="0" b="0"/>
            </a:stretch>
          </a:blipFill>
        </p:spPr>
      </p:sp>
      <p:sp>
        <p:nvSpPr>
          <p:cNvPr name="Freeform 8" id="8"/>
          <p:cNvSpPr/>
          <p:nvPr/>
        </p:nvSpPr>
        <p:spPr>
          <a:xfrm flipH="false" flipV="false" rot="0">
            <a:off x="14171367" y="7005381"/>
            <a:ext cx="3984695" cy="2000222"/>
          </a:xfrm>
          <a:custGeom>
            <a:avLst/>
            <a:gdLst/>
            <a:ahLst/>
            <a:cxnLst/>
            <a:rect r="r" b="b" t="t" l="l"/>
            <a:pathLst>
              <a:path h="2000222" w="3984695">
                <a:moveTo>
                  <a:pt x="0" y="0"/>
                </a:moveTo>
                <a:lnTo>
                  <a:pt x="3984695" y="0"/>
                </a:lnTo>
                <a:lnTo>
                  <a:pt x="3984695" y="2000222"/>
                </a:lnTo>
                <a:lnTo>
                  <a:pt x="0" y="2000222"/>
                </a:lnTo>
                <a:lnTo>
                  <a:pt x="0" y="0"/>
                </a:lnTo>
                <a:close/>
              </a:path>
            </a:pathLst>
          </a:custGeom>
          <a:blipFill>
            <a:blip r:embed="rId6"/>
            <a:stretch>
              <a:fillRect l="0" t="0" r="0" b="0"/>
            </a:stretch>
          </a:blipFill>
        </p:spPr>
      </p:sp>
      <p:sp>
        <p:nvSpPr>
          <p:cNvPr name="Freeform 9" id="9"/>
          <p:cNvSpPr/>
          <p:nvPr/>
        </p:nvSpPr>
        <p:spPr>
          <a:xfrm flipH="false" flipV="false" rot="0">
            <a:off x="2919327" y="7005381"/>
            <a:ext cx="11475606" cy="1965197"/>
          </a:xfrm>
          <a:custGeom>
            <a:avLst/>
            <a:gdLst/>
            <a:ahLst/>
            <a:cxnLst/>
            <a:rect r="r" b="b" t="t" l="l"/>
            <a:pathLst>
              <a:path h="1965197" w="11475606">
                <a:moveTo>
                  <a:pt x="0" y="0"/>
                </a:moveTo>
                <a:lnTo>
                  <a:pt x="11475605" y="0"/>
                </a:lnTo>
                <a:lnTo>
                  <a:pt x="11475605" y="1965197"/>
                </a:lnTo>
                <a:lnTo>
                  <a:pt x="0" y="1965197"/>
                </a:lnTo>
                <a:lnTo>
                  <a:pt x="0" y="0"/>
                </a:lnTo>
                <a:close/>
              </a:path>
            </a:pathLst>
          </a:custGeom>
          <a:blipFill>
            <a:blip r:embed="rId7"/>
            <a:stretch>
              <a:fillRect l="0" t="0" r="0" b="0"/>
            </a:stretch>
          </a:blipFill>
        </p:spPr>
      </p:sp>
      <p:sp>
        <p:nvSpPr>
          <p:cNvPr name="TextBox 10" id="10"/>
          <p:cNvSpPr txBox="true"/>
          <p:nvPr/>
        </p:nvSpPr>
        <p:spPr>
          <a:xfrm rot="0">
            <a:off x="1028704" y="2875140"/>
            <a:ext cx="11777548" cy="9455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The Quarter-Car model of a suspension can be visualized as this scheme of two masses, which represent the car and the tire:</a:t>
            </a:r>
          </a:p>
        </p:txBody>
      </p:sp>
      <p:sp>
        <p:nvSpPr>
          <p:cNvPr name="TextBox 11" id="11"/>
          <p:cNvSpPr txBox="true"/>
          <p:nvPr/>
        </p:nvSpPr>
        <p:spPr>
          <a:xfrm rot="0">
            <a:off x="1028700" y="4554770"/>
            <a:ext cx="5208679" cy="14027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In order to present it’s ISO form, the states and inputs are respecitvely:</a:t>
            </a:r>
          </a:p>
        </p:txBody>
      </p:sp>
      <p:sp>
        <p:nvSpPr>
          <p:cNvPr name="TextBox 12" id="12"/>
          <p:cNvSpPr txBox="true"/>
          <p:nvPr/>
        </p:nvSpPr>
        <p:spPr>
          <a:xfrm rot="0">
            <a:off x="17259300" y="9583562"/>
            <a:ext cx="235744" cy="4883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3</a:t>
            </a:r>
          </a:p>
        </p:txBody>
      </p:sp>
      <p:sp>
        <p:nvSpPr>
          <p:cNvPr name="TextBox 13" id="13"/>
          <p:cNvSpPr txBox="true"/>
          <p:nvPr/>
        </p:nvSpPr>
        <p:spPr>
          <a:xfrm rot="0">
            <a:off x="1028700" y="6690910"/>
            <a:ext cx="5208679" cy="4883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Thus: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4" y="1095375"/>
            <a:ext cx="16230596" cy="1304925"/>
          </a:xfrm>
          <a:prstGeom prst="rect">
            <a:avLst/>
          </a:prstGeom>
        </p:spPr>
        <p:txBody>
          <a:bodyPr anchor="t" rtlCol="false" tIns="0" lIns="0" bIns="0" rIns="0">
            <a:spAutoFit/>
          </a:bodyPr>
          <a:lstStyle/>
          <a:p>
            <a:pPr algn="l">
              <a:lnSpc>
                <a:spcPts val="9000"/>
              </a:lnSpc>
            </a:pPr>
            <a:r>
              <a:rPr lang="en-US" sz="9000">
                <a:solidFill>
                  <a:srgbClr val="0A714E"/>
                </a:solidFill>
                <a:latin typeface="Telegraf"/>
                <a:ea typeface="Telegraf"/>
                <a:cs typeface="Telegraf"/>
                <a:sym typeface="Telegraf"/>
              </a:rPr>
              <a:t>NL Quarter Car Model</a:t>
            </a:r>
          </a:p>
        </p:txBody>
      </p:sp>
      <p:sp>
        <p:nvSpPr>
          <p:cNvPr name="AutoShape 3" id="3"/>
          <p:cNvSpPr/>
          <p:nvPr/>
        </p:nvSpPr>
        <p:spPr>
          <a:xfrm>
            <a:off x="1028700" y="2381250"/>
            <a:ext cx="16230600" cy="0"/>
          </a:xfrm>
          <a:prstGeom prst="line">
            <a:avLst/>
          </a:prstGeom>
          <a:ln cap="flat" w="9525">
            <a:solidFill>
              <a:srgbClr val="0A714E"/>
            </a:solidFill>
            <a:prstDash val="solid"/>
            <a:headEnd type="none" len="sm" w="sm"/>
            <a:tailEnd type="none" len="sm" w="sm"/>
          </a:ln>
        </p:spPr>
      </p:sp>
      <p:sp>
        <p:nvSpPr>
          <p:cNvPr name="Freeform 4" id="4"/>
          <p:cNvSpPr/>
          <p:nvPr/>
        </p:nvSpPr>
        <p:spPr>
          <a:xfrm flipH="false" flipV="false" rot="0">
            <a:off x="8468315" y="2713215"/>
            <a:ext cx="3275956" cy="3082439"/>
          </a:xfrm>
          <a:custGeom>
            <a:avLst/>
            <a:gdLst/>
            <a:ahLst/>
            <a:cxnLst/>
            <a:rect r="r" b="b" t="t" l="l"/>
            <a:pathLst>
              <a:path h="3082439" w="3275956">
                <a:moveTo>
                  <a:pt x="0" y="0"/>
                </a:moveTo>
                <a:lnTo>
                  <a:pt x="3275956" y="0"/>
                </a:lnTo>
                <a:lnTo>
                  <a:pt x="3275956" y="3082440"/>
                </a:lnTo>
                <a:lnTo>
                  <a:pt x="0" y="3082440"/>
                </a:lnTo>
                <a:lnTo>
                  <a:pt x="0" y="0"/>
                </a:lnTo>
                <a:close/>
              </a:path>
            </a:pathLst>
          </a:custGeom>
          <a:blipFill>
            <a:blip r:embed="rId2"/>
            <a:stretch>
              <a:fillRect l="0" t="0" r="0" b="0"/>
            </a:stretch>
          </a:blipFill>
        </p:spPr>
      </p:sp>
      <p:sp>
        <p:nvSpPr>
          <p:cNvPr name="Freeform 5" id="5"/>
          <p:cNvSpPr/>
          <p:nvPr/>
        </p:nvSpPr>
        <p:spPr>
          <a:xfrm flipH="false" flipV="false" rot="0">
            <a:off x="12059732" y="2713215"/>
            <a:ext cx="6228268" cy="3571061"/>
          </a:xfrm>
          <a:custGeom>
            <a:avLst/>
            <a:gdLst/>
            <a:ahLst/>
            <a:cxnLst/>
            <a:rect r="r" b="b" t="t" l="l"/>
            <a:pathLst>
              <a:path h="3571061" w="6228268">
                <a:moveTo>
                  <a:pt x="0" y="0"/>
                </a:moveTo>
                <a:lnTo>
                  <a:pt x="6228268" y="0"/>
                </a:lnTo>
                <a:lnTo>
                  <a:pt x="6228268" y="3571062"/>
                </a:lnTo>
                <a:lnTo>
                  <a:pt x="0" y="3571062"/>
                </a:lnTo>
                <a:lnTo>
                  <a:pt x="0" y="0"/>
                </a:lnTo>
                <a:close/>
              </a:path>
            </a:pathLst>
          </a:custGeom>
          <a:blipFill>
            <a:blip r:embed="rId3"/>
            <a:stretch>
              <a:fillRect l="0" t="0" r="0" b="0"/>
            </a:stretch>
          </a:blipFill>
        </p:spPr>
      </p:sp>
      <p:sp>
        <p:nvSpPr>
          <p:cNvPr name="Freeform 6" id="6"/>
          <p:cNvSpPr/>
          <p:nvPr/>
        </p:nvSpPr>
        <p:spPr>
          <a:xfrm flipH="false" flipV="false" rot="0">
            <a:off x="1657726" y="6503748"/>
            <a:ext cx="5954339" cy="3104858"/>
          </a:xfrm>
          <a:custGeom>
            <a:avLst/>
            <a:gdLst/>
            <a:ahLst/>
            <a:cxnLst/>
            <a:rect r="r" b="b" t="t" l="l"/>
            <a:pathLst>
              <a:path h="3104858" w="5954339">
                <a:moveTo>
                  <a:pt x="0" y="0"/>
                </a:moveTo>
                <a:lnTo>
                  <a:pt x="5954338" y="0"/>
                </a:lnTo>
                <a:lnTo>
                  <a:pt x="5954338" y="3104858"/>
                </a:lnTo>
                <a:lnTo>
                  <a:pt x="0" y="3104858"/>
                </a:lnTo>
                <a:lnTo>
                  <a:pt x="0" y="0"/>
                </a:lnTo>
                <a:close/>
              </a:path>
            </a:pathLst>
          </a:custGeom>
          <a:blipFill>
            <a:blip r:embed="rId4"/>
            <a:stretch>
              <a:fillRect l="0" t="0" r="0" b="0"/>
            </a:stretch>
          </a:blipFill>
        </p:spPr>
      </p:sp>
      <p:sp>
        <p:nvSpPr>
          <p:cNvPr name="Freeform 7" id="7"/>
          <p:cNvSpPr/>
          <p:nvPr/>
        </p:nvSpPr>
        <p:spPr>
          <a:xfrm flipH="false" flipV="false" rot="0">
            <a:off x="8594067" y="5844857"/>
            <a:ext cx="3112688" cy="4146336"/>
          </a:xfrm>
          <a:custGeom>
            <a:avLst/>
            <a:gdLst/>
            <a:ahLst/>
            <a:cxnLst/>
            <a:rect r="r" b="b" t="t" l="l"/>
            <a:pathLst>
              <a:path h="4146336" w="3112688">
                <a:moveTo>
                  <a:pt x="0" y="0"/>
                </a:moveTo>
                <a:lnTo>
                  <a:pt x="3112688" y="0"/>
                </a:lnTo>
                <a:lnTo>
                  <a:pt x="3112688" y="4146336"/>
                </a:lnTo>
                <a:lnTo>
                  <a:pt x="0" y="4146336"/>
                </a:lnTo>
                <a:lnTo>
                  <a:pt x="0" y="0"/>
                </a:lnTo>
                <a:close/>
              </a:path>
            </a:pathLst>
          </a:custGeom>
          <a:blipFill>
            <a:blip r:embed="rId5"/>
            <a:stretch>
              <a:fillRect l="0" t="0" r="0" b="0"/>
            </a:stretch>
          </a:blipFill>
        </p:spPr>
      </p:sp>
      <p:sp>
        <p:nvSpPr>
          <p:cNvPr name="Freeform 8" id="8"/>
          <p:cNvSpPr/>
          <p:nvPr/>
        </p:nvSpPr>
        <p:spPr>
          <a:xfrm flipH="false" flipV="false" rot="0">
            <a:off x="11744271" y="6503748"/>
            <a:ext cx="6308353" cy="2754552"/>
          </a:xfrm>
          <a:custGeom>
            <a:avLst/>
            <a:gdLst/>
            <a:ahLst/>
            <a:cxnLst/>
            <a:rect r="r" b="b" t="t" l="l"/>
            <a:pathLst>
              <a:path h="2754552" w="6308353">
                <a:moveTo>
                  <a:pt x="0" y="0"/>
                </a:moveTo>
                <a:lnTo>
                  <a:pt x="6308353" y="0"/>
                </a:lnTo>
                <a:lnTo>
                  <a:pt x="6308353" y="2754552"/>
                </a:lnTo>
                <a:lnTo>
                  <a:pt x="0" y="2754552"/>
                </a:lnTo>
                <a:lnTo>
                  <a:pt x="0" y="0"/>
                </a:lnTo>
                <a:close/>
              </a:path>
            </a:pathLst>
          </a:custGeom>
          <a:blipFill>
            <a:blip r:embed="rId6"/>
            <a:stretch>
              <a:fillRect l="0" t="0" r="0" b="0"/>
            </a:stretch>
          </a:blipFill>
        </p:spPr>
      </p:sp>
      <p:sp>
        <p:nvSpPr>
          <p:cNvPr name="TextBox 9" id="9"/>
          <p:cNvSpPr txBox="true"/>
          <p:nvPr/>
        </p:nvSpPr>
        <p:spPr>
          <a:xfrm rot="0">
            <a:off x="1028700" y="3006059"/>
            <a:ext cx="7212390" cy="14027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In this model there’s a Non-Linear spring, which is obtained for example via the progressive springs:</a:t>
            </a:r>
          </a:p>
        </p:txBody>
      </p:sp>
      <p:sp>
        <p:nvSpPr>
          <p:cNvPr name="TextBox 10" id="10"/>
          <p:cNvSpPr txBox="true"/>
          <p:nvPr/>
        </p:nvSpPr>
        <p:spPr>
          <a:xfrm rot="0">
            <a:off x="17259300" y="9583562"/>
            <a:ext cx="241102" cy="4883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4</a:t>
            </a:r>
          </a:p>
        </p:txBody>
      </p:sp>
      <p:sp>
        <p:nvSpPr>
          <p:cNvPr name="TextBox 11" id="11"/>
          <p:cNvSpPr txBox="true"/>
          <p:nvPr/>
        </p:nvSpPr>
        <p:spPr>
          <a:xfrm rot="0">
            <a:off x="1028700" y="5778182"/>
            <a:ext cx="7212390" cy="9455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The parameters were taken from this Mercedes model: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4" y="1095375"/>
            <a:ext cx="16230596" cy="1304925"/>
          </a:xfrm>
          <a:prstGeom prst="rect">
            <a:avLst/>
          </a:prstGeom>
        </p:spPr>
        <p:txBody>
          <a:bodyPr anchor="t" rtlCol="false" tIns="0" lIns="0" bIns="0" rIns="0">
            <a:spAutoFit/>
          </a:bodyPr>
          <a:lstStyle/>
          <a:p>
            <a:pPr algn="l">
              <a:lnSpc>
                <a:spcPts val="9000"/>
              </a:lnSpc>
            </a:pPr>
            <a:r>
              <a:rPr lang="en-US" sz="9000">
                <a:solidFill>
                  <a:srgbClr val="0A714E"/>
                </a:solidFill>
                <a:latin typeface="Telegraf"/>
                <a:ea typeface="Telegraf"/>
                <a:cs typeface="Telegraf"/>
                <a:sym typeface="Telegraf"/>
              </a:rPr>
              <a:t>Open-Loop Analysis</a:t>
            </a:r>
          </a:p>
        </p:txBody>
      </p:sp>
      <p:sp>
        <p:nvSpPr>
          <p:cNvPr name="AutoShape 3" id="3"/>
          <p:cNvSpPr/>
          <p:nvPr/>
        </p:nvSpPr>
        <p:spPr>
          <a:xfrm>
            <a:off x="1028700" y="2381250"/>
            <a:ext cx="16230600" cy="0"/>
          </a:xfrm>
          <a:prstGeom prst="line">
            <a:avLst/>
          </a:prstGeom>
          <a:ln cap="flat" w="9525">
            <a:solidFill>
              <a:srgbClr val="0A714E"/>
            </a:solidFill>
            <a:prstDash val="solid"/>
            <a:headEnd type="none" len="sm" w="sm"/>
            <a:tailEnd type="none" len="sm" w="sm"/>
          </a:ln>
        </p:spPr>
      </p:sp>
      <p:sp>
        <p:nvSpPr>
          <p:cNvPr name="Freeform 4" id="4"/>
          <p:cNvSpPr/>
          <p:nvPr/>
        </p:nvSpPr>
        <p:spPr>
          <a:xfrm flipH="false" flipV="false" rot="0">
            <a:off x="8566404" y="2626773"/>
            <a:ext cx="4708962" cy="1992821"/>
          </a:xfrm>
          <a:custGeom>
            <a:avLst/>
            <a:gdLst/>
            <a:ahLst/>
            <a:cxnLst/>
            <a:rect r="r" b="b" t="t" l="l"/>
            <a:pathLst>
              <a:path h="1992821" w="4708962">
                <a:moveTo>
                  <a:pt x="0" y="0"/>
                </a:moveTo>
                <a:lnTo>
                  <a:pt x="4708962" y="0"/>
                </a:lnTo>
                <a:lnTo>
                  <a:pt x="4708962" y="1992821"/>
                </a:lnTo>
                <a:lnTo>
                  <a:pt x="0" y="1992821"/>
                </a:lnTo>
                <a:lnTo>
                  <a:pt x="0" y="0"/>
                </a:lnTo>
                <a:close/>
              </a:path>
            </a:pathLst>
          </a:custGeom>
          <a:blipFill>
            <a:blip r:embed="rId2"/>
            <a:stretch>
              <a:fillRect l="0" t="0" r="0" b="0"/>
            </a:stretch>
          </a:blipFill>
        </p:spPr>
      </p:sp>
      <p:sp>
        <p:nvSpPr>
          <p:cNvPr name="Freeform 5" id="5"/>
          <p:cNvSpPr/>
          <p:nvPr/>
        </p:nvSpPr>
        <p:spPr>
          <a:xfrm flipH="false" flipV="false" rot="0">
            <a:off x="13086889" y="2744344"/>
            <a:ext cx="4856919" cy="1970739"/>
          </a:xfrm>
          <a:custGeom>
            <a:avLst/>
            <a:gdLst/>
            <a:ahLst/>
            <a:cxnLst/>
            <a:rect r="r" b="b" t="t" l="l"/>
            <a:pathLst>
              <a:path h="1970739" w="4856919">
                <a:moveTo>
                  <a:pt x="0" y="0"/>
                </a:moveTo>
                <a:lnTo>
                  <a:pt x="4856919" y="0"/>
                </a:lnTo>
                <a:lnTo>
                  <a:pt x="4856919" y="1970739"/>
                </a:lnTo>
                <a:lnTo>
                  <a:pt x="0" y="1970739"/>
                </a:lnTo>
                <a:lnTo>
                  <a:pt x="0" y="0"/>
                </a:lnTo>
                <a:close/>
              </a:path>
            </a:pathLst>
          </a:custGeom>
          <a:blipFill>
            <a:blip r:embed="rId3"/>
            <a:stretch>
              <a:fillRect l="0" t="0" r="0" b="0"/>
            </a:stretch>
          </a:blipFill>
        </p:spPr>
      </p:sp>
      <p:sp>
        <p:nvSpPr>
          <p:cNvPr name="Freeform 6" id="6"/>
          <p:cNvSpPr/>
          <p:nvPr/>
        </p:nvSpPr>
        <p:spPr>
          <a:xfrm flipH="false" flipV="false" rot="0">
            <a:off x="888243" y="6011555"/>
            <a:ext cx="5225163" cy="1904499"/>
          </a:xfrm>
          <a:custGeom>
            <a:avLst/>
            <a:gdLst/>
            <a:ahLst/>
            <a:cxnLst/>
            <a:rect r="r" b="b" t="t" l="l"/>
            <a:pathLst>
              <a:path h="1904499" w="5225163">
                <a:moveTo>
                  <a:pt x="0" y="0"/>
                </a:moveTo>
                <a:lnTo>
                  <a:pt x="5225163" y="0"/>
                </a:lnTo>
                <a:lnTo>
                  <a:pt x="5225163" y="1904499"/>
                </a:lnTo>
                <a:lnTo>
                  <a:pt x="0" y="1904499"/>
                </a:lnTo>
                <a:lnTo>
                  <a:pt x="0" y="0"/>
                </a:lnTo>
                <a:close/>
              </a:path>
            </a:pathLst>
          </a:custGeom>
          <a:blipFill>
            <a:blip r:embed="rId4"/>
            <a:stretch>
              <a:fillRect l="0" t="0" r="0" b="0"/>
            </a:stretch>
          </a:blipFill>
        </p:spPr>
      </p:sp>
      <p:sp>
        <p:nvSpPr>
          <p:cNvPr name="Freeform 7" id="7"/>
          <p:cNvSpPr/>
          <p:nvPr/>
        </p:nvSpPr>
        <p:spPr>
          <a:xfrm flipH="false" flipV="false" rot="0">
            <a:off x="888243" y="7916054"/>
            <a:ext cx="4470143" cy="1202810"/>
          </a:xfrm>
          <a:custGeom>
            <a:avLst/>
            <a:gdLst/>
            <a:ahLst/>
            <a:cxnLst/>
            <a:rect r="r" b="b" t="t" l="l"/>
            <a:pathLst>
              <a:path h="1202810" w="4470143">
                <a:moveTo>
                  <a:pt x="0" y="0"/>
                </a:moveTo>
                <a:lnTo>
                  <a:pt x="4470143" y="0"/>
                </a:lnTo>
                <a:lnTo>
                  <a:pt x="4470143" y="1202809"/>
                </a:lnTo>
                <a:lnTo>
                  <a:pt x="0" y="1202809"/>
                </a:lnTo>
                <a:lnTo>
                  <a:pt x="0" y="0"/>
                </a:lnTo>
                <a:close/>
              </a:path>
            </a:pathLst>
          </a:custGeom>
          <a:blipFill>
            <a:blip r:embed="rId5"/>
            <a:stretch>
              <a:fillRect l="0" t="0" r="0" b="0"/>
            </a:stretch>
          </a:blipFill>
        </p:spPr>
      </p:sp>
      <p:sp>
        <p:nvSpPr>
          <p:cNvPr name="Freeform 8" id="8"/>
          <p:cNvSpPr/>
          <p:nvPr/>
        </p:nvSpPr>
        <p:spPr>
          <a:xfrm flipH="false" flipV="false" rot="0">
            <a:off x="1028704" y="9118662"/>
            <a:ext cx="5230701" cy="1063151"/>
          </a:xfrm>
          <a:custGeom>
            <a:avLst/>
            <a:gdLst/>
            <a:ahLst/>
            <a:cxnLst/>
            <a:rect r="r" b="b" t="t" l="l"/>
            <a:pathLst>
              <a:path h="1063151" w="5230701">
                <a:moveTo>
                  <a:pt x="0" y="0"/>
                </a:moveTo>
                <a:lnTo>
                  <a:pt x="5230701" y="0"/>
                </a:lnTo>
                <a:lnTo>
                  <a:pt x="5230701" y="1063151"/>
                </a:lnTo>
                <a:lnTo>
                  <a:pt x="0" y="1063151"/>
                </a:lnTo>
                <a:lnTo>
                  <a:pt x="0" y="0"/>
                </a:lnTo>
                <a:close/>
              </a:path>
            </a:pathLst>
          </a:custGeom>
          <a:blipFill>
            <a:blip r:embed="rId6"/>
            <a:stretch>
              <a:fillRect l="0" t="0" r="0" b="0"/>
            </a:stretch>
          </a:blipFill>
        </p:spPr>
      </p:sp>
      <p:sp>
        <p:nvSpPr>
          <p:cNvPr name="Freeform 9" id="9"/>
          <p:cNvSpPr/>
          <p:nvPr/>
        </p:nvSpPr>
        <p:spPr>
          <a:xfrm flipH="false" flipV="false" rot="0">
            <a:off x="7050551" y="5091304"/>
            <a:ext cx="4894894" cy="3942042"/>
          </a:xfrm>
          <a:custGeom>
            <a:avLst/>
            <a:gdLst/>
            <a:ahLst/>
            <a:cxnLst/>
            <a:rect r="r" b="b" t="t" l="l"/>
            <a:pathLst>
              <a:path h="3942042" w="4894894">
                <a:moveTo>
                  <a:pt x="0" y="0"/>
                </a:moveTo>
                <a:lnTo>
                  <a:pt x="4894895" y="0"/>
                </a:lnTo>
                <a:lnTo>
                  <a:pt x="4894895" y="3942042"/>
                </a:lnTo>
                <a:lnTo>
                  <a:pt x="0" y="3942042"/>
                </a:lnTo>
                <a:lnTo>
                  <a:pt x="0" y="0"/>
                </a:lnTo>
                <a:close/>
              </a:path>
            </a:pathLst>
          </a:custGeom>
          <a:blipFill>
            <a:blip r:embed="rId7"/>
            <a:stretch>
              <a:fillRect l="0" t="0" r="0" b="0"/>
            </a:stretch>
          </a:blipFill>
        </p:spPr>
      </p:sp>
      <p:sp>
        <p:nvSpPr>
          <p:cNvPr name="Freeform 10" id="10"/>
          <p:cNvSpPr/>
          <p:nvPr/>
        </p:nvSpPr>
        <p:spPr>
          <a:xfrm flipH="false" flipV="false" rot="0">
            <a:off x="12572779" y="5057983"/>
            <a:ext cx="4922979" cy="3975363"/>
          </a:xfrm>
          <a:custGeom>
            <a:avLst/>
            <a:gdLst/>
            <a:ahLst/>
            <a:cxnLst/>
            <a:rect r="r" b="b" t="t" l="l"/>
            <a:pathLst>
              <a:path h="3975363" w="4922979">
                <a:moveTo>
                  <a:pt x="0" y="0"/>
                </a:moveTo>
                <a:lnTo>
                  <a:pt x="4922979" y="0"/>
                </a:lnTo>
                <a:lnTo>
                  <a:pt x="4922979" y="3975363"/>
                </a:lnTo>
                <a:lnTo>
                  <a:pt x="0" y="3975363"/>
                </a:lnTo>
                <a:lnTo>
                  <a:pt x="0" y="0"/>
                </a:lnTo>
                <a:close/>
              </a:path>
            </a:pathLst>
          </a:custGeom>
          <a:blipFill>
            <a:blip r:embed="rId8"/>
            <a:stretch>
              <a:fillRect l="0" t="0" r="0" b="0"/>
            </a:stretch>
          </a:blipFill>
        </p:spPr>
      </p:sp>
      <p:sp>
        <p:nvSpPr>
          <p:cNvPr name="TextBox 11" id="11"/>
          <p:cNvSpPr txBox="true"/>
          <p:nvPr/>
        </p:nvSpPr>
        <p:spPr>
          <a:xfrm rot="0">
            <a:off x="1028700" y="2677669"/>
            <a:ext cx="7212390" cy="14027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The natural, single equilibrium point of the system is also intuitively locally stable, being a spiral sink:</a:t>
            </a:r>
          </a:p>
        </p:txBody>
      </p:sp>
      <p:sp>
        <p:nvSpPr>
          <p:cNvPr name="TextBox 12" id="12"/>
          <p:cNvSpPr txBox="true"/>
          <p:nvPr/>
        </p:nvSpPr>
        <p:spPr>
          <a:xfrm rot="0">
            <a:off x="17259300" y="9583562"/>
            <a:ext cx="236458" cy="4883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5</a:t>
            </a:r>
          </a:p>
        </p:txBody>
      </p:sp>
      <p:sp>
        <p:nvSpPr>
          <p:cNvPr name="TextBox 13" id="13"/>
          <p:cNvSpPr txBox="true"/>
          <p:nvPr/>
        </p:nvSpPr>
        <p:spPr>
          <a:xfrm rot="0">
            <a:off x="1028700" y="4356609"/>
            <a:ext cx="5642472" cy="14027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Through Lyapunov and La Salle we can even prove that the system is GAS: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4" y="1095375"/>
            <a:ext cx="16230596" cy="1304925"/>
          </a:xfrm>
          <a:prstGeom prst="rect">
            <a:avLst/>
          </a:prstGeom>
        </p:spPr>
        <p:txBody>
          <a:bodyPr anchor="t" rtlCol="false" tIns="0" lIns="0" bIns="0" rIns="0">
            <a:spAutoFit/>
          </a:bodyPr>
          <a:lstStyle/>
          <a:p>
            <a:pPr algn="l">
              <a:lnSpc>
                <a:spcPts val="9000"/>
              </a:lnSpc>
            </a:pPr>
            <a:r>
              <a:rPr lang="en-US" sz="9000">
                <a:solidFill>
                  <a:srgbClr val="0A714E"/>
                </a:solidFill>
                <a:latin typeface="Telegraf"/>
                <a:ea typeface="Telegraf"/>
                <a:cs typeface="Telegraf"/>
                <a:sym typeface="Telegraf"/>
              </a:rPr>
              <a:t>Open-Loop Analysis</a:t>
            </a:r>
          </a:p>
        </p:txBody>
      </p:sp>
      <p:sp>
        <p:nvSpPr>
          <p:cNvPr name="AutoShape 3" id="3"/>
          <p:cNvSpPr/>
          <p:nvPr/>
        </p:nvSpPr>
        <p:spPr>
          <a:xfrm>
            <a:off x="1028700" y="2381250"/>
            <a:ext cx="16230600" cy="0"/>
          </a:xfrm>
          <a:prstGeom prst="line">
            <a:avLst/>
          </a:prstGeom>
          <a:ln cap="flat" w="9525">
            <a:solidFill>
              <a:srgbClr val="0A714E"/>
            </a:solidFill>
            <a:prstDash val="solid"/>
            <a:headEnd type="none" len="sm" w="sm"/>
            <a:tailEnd type="none" len="sm" w="sm"/>
          </a:ln>
        </p:spPr>
      </p:sp>
      <p:sp>
        <p:nvSpPr>
          <p:cNvPr name="Freeform 4" id="4"/>
          <p:cNvSpPr/>
          <p:nvPr/>
        </p:nvSpPr>
        <p:spPr>
          <a:xfrm flipH="false" flipV="false" rot="0">
            <a:off x="4637952" y="2648902"/>
            <a:ext cx="4624275" cy="1328815"/>
          </a:xfrm>
          <a:custGeom>
            <a:avLst/>
            <a:gdLst/>
            <a:ahLst/>
            <a:cxnLst/>
            <a:rect r="r" b="b" t="t" l="l"/>
            <a:pathLst>
              <a:path h="1328815" w="4624275">
                <a:moveTo>
                  <a:pt x="0" y="0"/>
                </a:moveTo>
                <a:lnTo>
                  <a:pt x="4624276" y="0"/>
                </a:lnTo>
                <a:lnTo>
                  <a:pt x="4624276" y="1328815"/>
                </a:lnTo>
                <a:lnTo>
                  <a:pt x="0" y="1328815"/>
                </a:lnTo>
                <a:lnTo>
                  <a:pt x="0" y="0"/>
                </a:lnTo>
                <a:close/>
              </a:path>
            </a:pathLst>
          </a:custGeom>
          <a:blipFill>
            <a:blip r:embed="rId2"/>
            <a:stretch>
              <a:fillRect l="0" t="0" r="0" b="0"/>
            </a:stretch>
          </a:blipFill>
        </p:spPr>
      </p:sp>
      <p:sp>
        <p:nvSpPr>
          <p:cNvPr name="Freeform 5" id="5"/>
          <p:cNvSpPr/>
          <p:nvPr/>
        </p:nvSpPr>
        <p:spPr>
          <a:xfrm flipH="false" flipV="false" rot="0">
            <a:off x="9262228" y="2648902"/>
            <a:ext cx="4111150" cy="1464245"/>
          </a:xfrm>
          <a:custGeom>
            <a:avLst/>
            <a:gdLst/>
            <a:ahLst/>
            <a:cxnLst/>
            <a:rect r="r" b="b" t="t" l="l"/>
            <a:pathLst>
              <a:path h="1464245" w="4111150">
                <a:moveTo>
                  <a:pt x="0" y="0"/>
                </a:moveTo>
                <a:lnTo>
                  <a:pt x="4111150" y="0"/>
                </a:lnTo>
                <a:lnTo>
                  <a:pt x="4111150" y="1464246"/>
                </a:lnTo>
                <a:lnTo>
                  <a:pt x="0" y="1464246"/>
                </a:lnTo>
                <a:lnTo>
                  <a:pt x="0" y="0"/>
                </a:lnTo>
                <a:close/>
              </a:path>
            </a:pathLst>
          </a:custGeom>
          <a:blipFill>
            <a:blip r:embed="rId3"/>
            <a:stretch>
              <a:fillRect l="0" t="0" r="0" b="0"/>
            </a:stretch>
          </a:blipFill>
        </p:spPr>
      </p:sp>
      <p:sp>
        <p:nvSpPr>
          <p:cNvPr name="Freeform 6" id="6"/>
          <p:cNvSpPr/>
          <p:nvPr/>
        </p:nvSpPr>
        <p:spPr>
          <a:xfrm flipH="false" flipV="false" rot="0">
            <a:off x="13449578" y="2745428"/>
            <a:ext cx="4838422" cy="1128395"/>
          </a:xfrm>
          <a:custGeom>
            <a:avLst/>
            <a:gdLst/>
            <a:ahLst/>
            <a:cxnLst/>
            <a:rect r="r" b="b" t="t" l="l"/>
            <a:pathLst>
              <a:path h="1128395" w="4838422">
                <a:moveTo>
                  <a:pt x="0" y="0"/>
                </a:moveTo>
                <a:lnTo>
                  <a:pt x="4838422" y="0"/>
                </a:lnTo>
                <a:lnTo>
                  <a:pt x="4838422" y="1128395"/>
                </a:lnTo>
                <a:lnTo>
                  <a:pt x="0" y="1128395"/>
                </a:lnTo>
                <a:lnTo>
                  <a:pt x="0" y="0"/>
                </a:lnTo>
                <a:close/>
              </a:path>
            </a:pathLst>
          </a:custGeom>
          <a:blipFill>
            <a:blip r:embed="rId4"/>
            <a:stretch>
              <a:fillRect l="0" t="0" r="0" b="0"/>
            </a:stretch>
          </a:blipFill>
        </p:spPr>
      </p:sp>
      <p:sp>
        <p:nvSpPr>
          <p:cNvPr name="Freeform 7" id="7"/>
          <p:cNvSpPr/>
          <p:nvPr/>
        </p:nvSpPr>
        <p:spPr>
          <a:xfrm flipH="false" flipV="false" rot="0">
            <a:off x="5642893" y="5805357"/>
            <a:ext cx="5725799" cy="4514744"/>
          </a:xfrm>
          <a:custGeom>
            <a:avLst/>
            <a:gdLst/>
            <a:ahLst/>
            <a:cxnLst/>
            <a:rect r="r" b="b" t="t" l="l"/>
            <a:pathLst>
              <a:path h="4514744" w="5725799">
                <a:moveTo>
                  <a:pt x="0" y="0"/>
                </a:moveTo>
                <a:lnTo>
                  <a:pt x="5725799" y="0"/>
                </a:lnTo>
                <a:lnTo>
                  <a:pt x="5725799" y="4514743"/>
                </a:lnTo>
                <a:lnTo>
                  <a:pt x="0" y="4514743"/>
                </a:lnTo>
                <a:lnTo>
                  <a:pt x="0" y="0"/>
                </a:lnTo>
                <a:close/>
              </a:path>
            </a:pathLst>
          </a:custGeom>
          <a:blipFill>
            <a:blip r:embed="rId5"/>
            <a:stretch>
              <a:fillRect l="0" t="0" r="0" b="0"/>
            </a:stretch>
          </a:blipFill>
        </p:spPr>
      </p:sp>
      <p:sp>
        <p:nvSpPr>
          <p:cNvPr name="Freeform 8" id="8"/>
          <p:cNvSpPr/>
          <p:nvPr/>
        </p:nvSpPr>
        <p:spPr>
          <a:xfrm flipH="false" flipV="false" rot="0">
            <a:off x="0" y="5805357"/>
            <a:ext cx="5663809" cy="4481643"/>
          </a:xfrm>
          <a:custGeom>
            <a:avLst/>
            <a:gdLst/>
            <a:ahLst/>
            <a:cxnLst/>
            <a:rect r="r" b="b" t="t" l="l"/>
            <a:pathLst>
              <a:path h="4481643" w="5663809">
                <a:moveTo>
                  <a:pt x="0" y="0"/>
                </a:moveTo>
                <a:lnTo>
                  <a:pt x="5663809" y="0"/>
                </a:lnTo>
                <a:lnTo>
                  <a:pt x="5663809" y="4481643"/>
                </a:lnTo>
                <a:lnTo>
                  <a:pt x="0" y="4481643"/>
                </a:lnTo>
                <a:lnTo>
                  <a:pt x="0" y="0"/>
                </a:lnTo>
                <a:close/>
              </a:path>
            </a:pathLst>
          </a:custGeom>
          <a:blipFill>
            <a:blip r:embed="rId6"/>
            <a:stretch>
              <a:fillRect l="0" t="0" r="0" b="0"/>
            </a:stretch>
          </a:blipFill>
        </p:spPr>
      </p:sp>
      <p:sp>
        <p:nvSpPr>
          <p:cNvPr name="Freeform 9" id="9"/>
          <p:cNvSpPr/>
          <p:nvPr/>
        </p:nvSpPr>
        <p:spPr>
          <a:xfrm flipH="false" flipV="false" rot="0">
            <a:off x="11317803" y="5805357"/>
            <a:ext cx="5749170" cy="4498193"/>
          </a:xfrm>
          <a:custGeom>
            <a:avLst/>
            <a:gdLst/>
            <a:ahLst/>
            <a:cxnLst/>
            <a:rect r="r" b="b" t="t" l="l"/>
            <a:pathLst>
              <a:path h="4498193" w="5749170">
                <a:moveTo>
                  <a:pt x="0" y="0"/>
                </a:moveTo>
                <a:lnTo>
                  <a:pt x="5749170" y="0"/>
                </a:lnTo>
                <a:lnTo>
                  <a:pt x="5749170" y="4498193"/>
                </a:lnTo>
                <a:lnTo>
                  <a:pt x="0" y="4498193"/>
                </a:lnTo>
                <a:lnTo>
                  <a:pt x="0" y="0"/>
                </a:lnTo>
                <a:close/>
              </a:path>
            </a:pathLst>
          </a:custGeom>
          <a:blipFill>
            <a:blip r:embed="rId7"/>
            <a:stretch>
              <a:fillRect l="0" t="0" r="0" b="0"/>
            </a:stretch>
          </a:blipFill>
        </p:spPr>
      </p:sp>
      <p:sp>
        <p:nvSpPr>
          <p:cNvPr name="Freeform 10" id="10"/>
          <p:cNvSpPr/>
          <p:nvPr/>
        </p:nvSpPr>
        <p:spPr>
          <a:xfrm flipH="false" flipV="false" rot="0">
            <a:off x="13553024" y="4194825"/>
            <a:ext cx="3122124" cy="1512782"/>
          </a:xfrm>
          <a:custGeom>
            <a:avLst/>
            <a:gdLst/>
            <a:ahLst/>
            <a:cxnLst/>
            <a:rect r="r" b="b" t="t" l="l"/>
            <a:pathLst>
              <a:path h="1512782" w="3122124">
                <a:moveTo>
                  <a:pt x="0" y="0"/>
                </a:moveTo>
                <a:lnTo>
                  <a:pt x="3122124" y="0"/>
                </a:lnTo>
                <a:lnTo>
                  <a:pt x="3122124" y="1512782"/>
                </a:lnTo>
                <a:lnTo>
                  <a:pt x="0" y="1512782"/>
                </a:lnTo>
                <a:lnTo>
                  <a:pt x="0" y="0"/>
                </a:lnTo>
                <a:close/>
              </a:path>
            </a:pathLst>
          </a:custGeom>
          <a:blipFill>
            <a:blip r:embed="rId8"/>
            <a:stretch>
              <a:fillRect l="0" t="0" r="0" b="0"/>
            </a:stretch>
          </a:blipFill>
        </p:spPr>
      </p:sp>
      <p:sp>
        <p:nvSpPr>
          <p:cNvPr name="TextBox 11" id="11"/>
          <p:cNvSpPr txBox="true"/>
          <p:nvPr/>
        </p:nvSpPr>
        <p:spPr>
          <a:xfrm rot="0">
            <a:off x="1028700" y="2844735"/>
            <a:ext cx="3535476" cy="14027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If we consider those performance indexes:</a:t>
            </a:r>
          </a:p>
        </p:txBody>
      </p:sp>
      <p:sp>
        <p:nvSpPr>
          <p:cNvPr name="TextBox 12" id="12"/>
          <p:cNvSpPr txBox="true"/>
          <p:nvPr/>
        </p:nvSpPr>
        <p:spPr>
          <a:xfrm rot="0">
            <a:off x="17259300" y="9583562"/>
            <a:ext cx="234315" cy="4883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6</a:t>
            </a:r>
          </a:p>
        </p:txBody>
      </p:sp>
      <p:sp>
        <p:nvSpPr>
          <p:cNvPr name="TextBox 13" id="13"/>
          <p:cNvSpPr txBox="true"/>
          <p:nvPr/>
        </p:nvSpPr>
        <p:spPr>
          <a:xfrm rot="0">
            <a:off x="1028704" y="4295075"/>
            <a:ext cx="10765363" cy="4883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Then we can evaluate the passive suspension performance: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4" y="1095375"/>
            <a:ext cx="16230596" cy="1304925"/>
          </a:xfrm>
          <a:prstGeom prst="rect">
            <a:avLst/>
          </a:prstGeom>
        </p:spPr>
        <p:txBody>
          <a:bodyPr anchor="t" rtlCol="false" tIns="0" lIns="0" bIns="0" rIns="0">
            <a:spAutoFit/>
          </a:bodyPr>
          <a:lstStyle/>
          <a:p>
            <a:pPr algn="l">
              <a:lnSpc>
                <a:spcPts val="9000"/>
              </a:lnSpc>
            </a:pPr>
            <a:r>
              <a:rPr lang="en-US" sz="9000">
                <a:solidFill>
                  <a:srgbClr val="0A714E"/>
                </a:solidFill>
                <a:latin typeface="Telegraf"/>
                <a:ea typeface="Telegraf"/>
                <a:cs typeface="Telegraf"/>
                <a:sym typeface="Telegraf"/>
              </a:rPr>
              <a:t>Synthesis</a:t>
            </a:r>
          </a:p>
        </p:txBody>
      </p:sp>
      <p:sp>
        <p:nvSpPr>
          <p:cNvPr name="AutoShape 3" id="3"/>
          <p:cNvSpPr/>
          <p:nvPr/>
        </p:nvSpPr>
        <p:spPr>
          <a:xfrm>
            <a:off x="1028700" y="2381250"/>
            <a:ext cx="16230600" cy="0"/>
          </a:xfrm>
          <a:prstGeom prst="line">
            <a:avLst/>
          </a:prstGeom>
          <a:ln cap="flat" w="9525">
            <a:solidFill>
              <a:srgbClr val="0A714E"/>
            </a:solidFill>
            <a:prstDash val="solid"/>
            <a:headEnd type="none" len="sm" w="sm"/>
            <a:tailEnd type="none" len="sm" w="sm"/>
          </a:ln>
        </p:spPr>
      </p:sp>
      <p:sp>
        <p:nvSpPr>
          <p:cNvPr name="Freeform 4" id="4"/>
          <p:cNvSpPr/>
          <p:nvPr/>
        </p:nvSpPr>
        <p:spPr>
          <a:xfrm flipH="false" flipV="false" rot="0">
            <a:off x="9530674" y="2519299"/>
            <a:ext cx="2299221" cy="699763"/>
          </a:xfrm>
          <a:custGeom>
            <a:avLst/>
            <a:gdLst/>
            <a:ahLst/>
            <a:cxnLst/>
            <a:rect r="r" b="b" t="t" l="l"/>
            <a:pathLst>
              <a:path h="699763" w="2299221">
                <a:moveTo>
                  <a:pt x="0" y="0"/>
                </a:moveTo>
                <a:lnTo>
                  <a:pt x="2299220" y="0"/>
                </a:lnTo>
                <a:lnTo>
                  <a:pt x="2299220" y="699763"/>
                </a:lnTo>
                <a:lnTo>
                  <a:pt x="0" y="699763"/>
                </a:lnTo>
                <a:lnTo>
                  <a:pt x="0" y="0"/>
                </a:lnTo>
                <a:close/>
              </a:path>
            </a:pathLst>
          </a:custGeom>
          <a:blipFill>
            <a:blip r:embed="rId2"/>
            <a:stretch>
              <a:fillRect l="0" t="0" r="0" b="0"/>
            </a:stretch>
          </a:blipFill>
        </p:spPr>
      </p:sp>
      <p:sp>
        <p:nvSpPr>
          <p:cNvPr name="Freeform 5" id="5"/>
          <p:cNvSpPr/>
          <p:nvPr/>
        </p:nvSpPr>
        <p:spPr>
          <a:xfrm flipH="false" flipV="false" rot="0">
            <a:off x="9144002" y="3095121"/>
            <a:ext cx="4273279" cy="1686390"/>
          </a:xfrm>
          <a:custGeom>
            <a:avLst/>
            <a:gdLst/>
            <a:ahLst/>
            <a:cxnLst/>
            <a:rect r="r" b="b" t="t" l="l"/>
            <a:pathLst>
              <a:path h="1686390" w="4273279">
                <a:moveTo>
                  <a:pt x="0" y="0"/>
                </a:moveTo>
                <a:lnTo>
                  <a:pt x="4273279" y="0"/>
                </a:lnTo>
                <a:lnTo>
                  <a:pt x="4273279" y="1686390"/>
                </a:lnTo>
                <a:lnTo>
                  <a:pt x="0" y="1686390"/>
                </a:lnTo>
                <a:lnTo>
                  <a:pt x="0" y="0"/>
                </a:lnTo>
                <a:close/>
              </a:path>
            </a:pathLst>
          </a:custGeom>
          <a:blipFill>
            <a:blip r:embed="rId3"/>
            <a:stretch>
              <a:fillRect l="0" t="0" r="0" b="0"/>
            </a:stretch>
          </a:blipFill>
        </p:spPr>
      </p:sp>
      <p:sp>
        <p:nvSpPr>
          <p:cNvPr name="Freeform 6" id="6"/>
          <p:cNvSpPr/>
          <p:nvPr/>
        </p:nvSpPr>
        <p:spPr>
          <a:xfrm flipH="false" flipV="false" rot="0">
            <a:off x="13530243" y="2519299"/>
            <a:ext cx="4757757" cy="1793599"/>
          </a:xfrm>
          <a:custGeom>
            <a:avLst/>
            <a:gdLst/>
            <a:ahLst/>
            <a:cxnLst/>
            <a:rect r="r" b="b" t="t" l="l"/>
            <a:pathLst>
              <a:path h="1793599" w="4757757">
                <a:moveTo>
                  <a:pt x="0" y="0"/>
                </a:moveTo>
                <a:lnTo>
                  <a:pt x="4757757" y="0"/>
                </a:lnTo>
                <a:lnTo>
                  <a:pt x="4757757" y="1793599"/>
                </a:lnTo>
                <a:lnTo>
                  <a:pt x="0" y="1793599"/>
                </a:lnTo>
                <a:lnTo>
                  <a:pt x="0" y="0"/>
                </a:lnTo>
                <a:close/>
              </a:path>
            </a:pathLst>
          </a:custGeom>
          <a:blipFill>
            <a:blip r:embed="rId4"/>
            <a:stretch>
              <a:fillRect l="0" t="0" r="0" b="0"/>
            </a:stretch>
          </a:blipFill>
        </p:spPr>
      </p:sp>
      <p:sp>
        <p:nvSpPr>
          <p:cNvPr name="Freeform 7" id="7"/>
          <p:cNvSpPr/>
          <p:nvPr/>
        </p:nvSpPr>
        <p:spPr>
          <a:xfrm flipH="false" flipV="false" rot="0">
            <a:off x="0" y="4905451"/>
            <a:ext cx="4664466" cy="3642314"/>
          </a:xfrm>
          <a:custGeom>
            <a:avLst/>
            <a:gdLst/>
            <a:ahLst/>
            <a:cxnLst/>
            <a:rect r="r" b="b" t="t" l="l"/>
            <a:pathLst>
              <a:path h="3642314" w="4664466">
                <a:moveTo>
                  <a:pt x="0" y="0"/>
                </a:moveTo>
                <a:lnTo>
                  <a:pt x="4664466" y="0"/>
                </a:lnTo>
                <a:lnTo>
                  <a:pt x="4664466" y="3642315"/>
                </a:lnTo>
                <a:lnTo>
                  <a:pt x="0" y="3642315"/>
                </a:lnTo>
                <a:lnTo>
                  <a:pt x="0" y="0"/>
                </a:lnTo>
                <a:close/>
              </a:path>
            </a:pathLst>
          </a:custGeom>
          <a:blipFill>
            <a:blip r:embed="rId5"/>
            <a:stretch>
              <a:fillRect l="0" t="0" r="0" b="0"/>
            </a:stretch>
          </a:blipFill>
        </p:spPr>
      </p:sp>
      <p:sp>
        <p:nvSpPr>
          <p:cNvPr name="Freeform 8" id="8"/>
          <p:cNvSpPr/>
          <p:nvPr/>
        </p:nvSpPr>
        <p:spPr>
          <a:xfrm flipH="false" flipV="false" rot="0">
            <a:off x="4605335" y="4905451"/>
            <a:ext cx="4538665" cy="3642314"/>
          </a:xfrm>
          <a:custGeom>
            <a:avLst/>
            <a:gdLst/>
            <a:ahLst/>
            <a:cxnLst/>
            <a:rect r="r" b="b" t="t" l="l"/>
            <a:pathLst>
              <a:path h="3642314" w="4538665">
                <a:moveTo>
                  <a:pt x="0" y="0"/>
                </a:moveTo>
                <a:lnTo>
                  <a:pt x="4538665" y="0"/>
                </a:lnTo>
                <a:lnTo>
                  <a:pt x="4538665" y="3642315"/>
                </a:lnTo>
                <a:lnTo>
                  <a:pt x="0" y="3642315"/>
                </a:lnTo>
                <a:lnTo>
                  <a:pt x="0" y="0"/>
                </a:lnTo>
                <a:close/>
              </a:path>
            </a:pathLst>
          </a:custGeom>
          <a:blipFill>
            <a:blip r:embed="rId6"/>
            <a:stretch>
              <a:fillRect l="0" t="0" r="0" b="0"/>
            </a:stretch>
          </a:blipFill>
        </p:spPr>
      </p:sp>
      <p:sp>
        <p:nvSpPr>
          <p:cNvPr name="Freeform 9" id="9"/>
          <p:cNvSpPr/>
          <p:nvPr/>
        </p:nvSpPr>
        <p:spPr>
          <a:xfrm flipH="false" flipV="false" rot="0">
            <a:off x="9144000" y="4905451"/>
            <a:ext cx="4635237" cy="3660906"/>
          </a:xfrm>
          <a:custGeom>
            <a:avLst/>
            <a:gdLst/>
            <a:ahLst/>
            <a:cxnLst/>
            <a:rect r="r" b="b" t="t" l="l"/>
            <a:pathLst>
              <a:path h="3660906" w="4635237">
                <a:moveTo>
                  <a:pt x="0" y="0"/>
                </a:moveTo>
                <a:lnTo>
                  <a:pt x="4635237" y="0"/>
                </a:lnTo>
                <a:lnTo>
                  <a:pt x="4635237" y="3660907"/>
                </a:lnTo>
                <a:lnTo>
                  <a:pt x="0" y="3660907"/>
                </a:lnTo>
                <a:lnTo>
                  <a:pt x="0" y="0"/>
                </a:lnTo>
                <a:close/>
              </a:path>
            </a:pathLst>
          </a:custGeom>
          <a:blipFill>
            <a:blip r:embed="rId7"/>
            <a:stretch>
              <a:fillRect l="0" t="0" r="0" b="0"/>
            </a:stretch>
          </a:blipFill>
        </p:spPr>
      </p:sp>
      <p:sp>
        <p:nvSpPr>
          <p:cNvPr name="Freeform 10" id="10"/>
          <p:cNvSpPr/>
          <p:nvPr/>
        </p:nvSpPr>
        <p:spPr>
          <a:xfrm flipH="false" flipV="false" rot="0">
            <a:off x="13715428" y="4905451"/>
            <a:ext cx="4572572" cy="3660906"/>
          </a:xfrm>
          <a:custGeom>
            <a:avLst/>
            <a:gdLst/>
            <a:ahLst/>
            <a:cxnLst/>
            <a:rect r="r" b="b" t="t" l="l"/>
            <a:pathLst>
              <a:path h="3660906" w="4572572">
                <a:moveTo>
                  <a:pt x="0" y="0"/>
                </a:moveTo>
                <a:lnTo>
                  <a:pt x="4572572" y="0"/>
                </a:lnTo>
                <a:lnTo>
                  <a:pt x="4572572" y="3660907"/>
                </a:lnTo>
                <a:lnTo>
                  <a:pt x="0" y="3660907"/>
                </a:lnTo>
                <a:lnTo>
                  <a:pt x="0" y="0"/>
                </a:lnTo>
                <a:close/>
              </a:path>
            </a:pathLst>
          </a:custGeom>
          <a:blipFill>
            <a:blip r:embed="rId8"/>
            <a:stretch>
              <a:fillRect l="0" t="0" r="0" b="0"/>
            </a:stretch>
          </a:blipFill>
        </p:spPr>
      </p:sp>
      <p:sp>
        <p:nvSpPr>
          <p:cNvPr name="Freeform 11" id="11"/>
          <p:cNvSpPr/>
          <p:nvPr/>
        </p:nvSpPr>
        <p:spPr>
          <a:xfrm flipH="false" flipV="false" rot="0">
            <a:off x="4014343" y="8916493"/>
            <a:ext cx="4203536" cy="733745"/>
          </a:xfrm>
          <a:custGeom>
            <a:avLst/>
            <a:gdLst/>
            <a:ahLst/>
            <a:cxnLst/>
            <a:rect r="r" b="b" t="t" l="l"/>
            <a:pathLst>
              <a:path h="733745" w="4203536">
                <a:moveTo>
                  <a:pt x="0" y="0"/>
                </a:moveTo>
                <a:lnTo>
                  <a:pt x="4203536" y="0"/>
                </a:lnTo>
                <a:lnTo>
                  <a:pt x="4203536" y="733744"/>
                </a:lnTo>
                <a:lnTo>
                  <a:pt x="0" y="733744"/>
                </a:lnTo>
                <a:lnTo>
                  <a:pt x="0" y="0"/>
                </a:lnTo>
                <a:close/>
              </a:path>
            </a:pathLst>
          </a:custGeom>
          <a:blipFill>
            <a:blip r:embed="rId9"/>
            <a:stretch>
              <a:fillRect l="-4217" t="0" r="-4217" b="0"/>
            </a:stretch>
          </a:blipFill>
        </p:spPr>
      </p:sp>
      <p:sp>
        <p:nvSpPr>
          <p:cNvPr name="Freeform 12" id="12"/>
          <p:cNvSpPr/>
          <p:nvPr/>
        </p:nvSpPr>
        <p:spPr>
          <a:xfrm flipH="false" flipV="false" rot="0">
            <a:off x="8217879" y="8735671"/>
            <a:ext cx="4355660" cy="1125386"/>
          </a:xfrm>
          <a:custGeom>
            <a:avLst/>
            <a:gdLst/>
            <a:ahLst/>
            <a:cxnLst/>
            <a:rect r="r" b="b" t="t" l="l"/>
            <a:pathLst>
              <a:path h="1125386" w="4355660">
                <a:moveTo>
                  <a:pt x="0" y="0"/>
                </a:moveTo>
                <a:lnTo>
                  <a:pt x="4355661" y="0"/>
                </a:lnTo>
                <a:lnTo>
                  <a:pt x="4355661" y="1125386"/>
                </a:lnTo>
                <a:lnTo>
                  <a:pt x="0" y="1125386"/>
                </a:lnTo>
                <a:lnTo>
                  <a:pt x="0" y="0"/>
                </a:lnTo>
                <a:close/>
              </a:path>
            </a:pathLst>
          </a:custGeom>
          <a:blipFill>
            <a:blip r:embed="rId10"/>
            <a:stretch>
              <a:fillRect l="0" t="0" r="0" b="0"/>
            </a:stretch>
          </a:blipFill>
        </p:spPr>
      </p:sp>
      <p:sp>
        <p:nvSpPr>
          <p:cNvPr name="Freeform 13" id="13"/>
          <p:cNvSpPr/>
          <p:nvPr/>
        </p:nvSpPr>
        <p:spPr>
          <a:xfrm flipH="false" flipV="false" rot="0">
            <a:off x="12573540" y="8841081"/>
            <a:ext cx="4310841" cy="1019976"/>
          </a:xfrm>
          <a:custGeom>
            <a:avLst/>
            <a:gdLst/>
            <a:ahLst/>
            <a:cxnLst/>
            <a:rect r="r" b="b" t="t" l="l"/>
            <a:pathLst>
              <a:path h="1019976" w="4310841">
                <a:moveTo>
                  <a:pt x="0" y="0"/>
                </a:moveTo>
                <a:lnTo>
                  <a:pt x="4310841" y="0"/>
                </a:lnTo>
                <a:lnTo>
                  <a:pt x="4310841" y="1019976"/>
                </a:lnTo>
                <a:lnTo>
                  <a:pt x="0" y="1019976"/>
                </a:lnTo>
                <a:lnTo>
                  <a:pt x="0" y="0"/>
                </a:lnTo>
                <a:close/>
              </a:path>
            </a:pathLst>
          </a:custGeom>
          <a:blipFill>
            <a:blip r:embed="rId11"/>
            <a:stretch>
              <a:fillRect l="0" t="0" r="0" b="0"/>
            </a:stretch>
          </a:blipFill>
        </p:spPr>
      </p:sp>
      <p:sp>
        <p:nvSpPr>
          <p:cNvPr name="Freeform 14" id="14"/>
          <p:cNvSpPr/>
          <p:nvPr/>
        </p:nvSpPr>
        <p:spPr>
          <a:xfrm flipH="false" flipV="false" rot="0">
            <a:off x="0" y="8547766"/>
            <a:ext cx="3642868" cy="1723857"/>
          </a:xfrm>
          <a:custGeom>
            <a:avLst/>
            <a:gdLst/>
            <a:ahLst/>
            <a:cxnLst/>
            <a:rect r="r" b="b" t="t" l="l"/>
            <a:pathLst>
              <a:path h="1723857" w="3642868">
                <a:moveTo>
                  <a:pt x="0" y="0"/>
                </a:moveTo>
                <a:lnTo>
                  <a:pt x="3642868" y="0"/>
                </a:lnTo>
                <a:lnTo>
                  <a:pt x="3642868" y="1723857"/>
                </a:lnTo>
                <a:lnTo>
                  <a:pt x="0" y="1723857"/>
                </a:lnTo>
                <a:lnTo>
                  <a:pt x="0" y="0"/>
                </a:lnTo>
                <a:close/>
              </a:path>
            </a:pathLst>
          </a:custGeom>
          <a:blipFill>
            <a:blip r:embed="rId12"/>
            <a:stretch>
              <a:fillRect l="0" t="0" r="0" b="0"/>
            </a:stretch>
          </a:blipFill>
        </p:spPr>
      </p:sp>
      <p:sp>
        <p:nvSpPr>
          <p:cNvPr name="TextBox 15" id="15"/>
          <p:cNvSpPr txBox="true"/>
          <p:nvPr/>
        </p:nvSpPr>
        <p:spPr>
          <a:xfrm rot="0">
            <a:off x="1028700" y="2649661"/>
            <a:ext cx="7410138" cy="18599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The first controller to be implemented is LQR and it’s developed around the system’s equilibrium point, an integral action is also added to robustenss:</a:t>
            </a:r>
          </a:p>
        </p:txBody>
      </p:sp>
      <p:sp>
        <p:nvSpPr>
          <p:cNvPr name="TextBox 16" id="16"/>
          <p:cNvSpPr txBox="true"/>
          <p:nvPr/>
        </p:nvSpPr>
        <p:spPr>
          <a:xfrm rot="0">
            <a:off x="17259300" y="9583562"/>
            <a:ext cx="208002" cy="4883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7</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4" y="1095375"/>
            <a:ext cx="16230596" cy="1304925"/>
          </a:xfrm>
          <a:prstGeom prst="rect">
            <a:avLst/>
          </a:prstGeom>
        </p:spPr>
        <p:txBody>
          <a:bodyPr anchor="t" rtlCol="false" tIns="0" lIns="0" bIns="0" rIns="0">
            <a:spAutoFit/>
          </a:bodyPr>
          <a:lstStyle/>
          <a:p>
            <a:pPr algn="l">
              <a:lnSpc>
                <a:spcPts val="9000"/>
              </a:lnSpc>
            </a:pPr>
            <a:r>
              <a:rPr lang="en-US" sz="9000">
                <a:solidFill>
                  <a:srgbClr val="0A714E"/>
                </a:solidFill>
                <a:latin typeface="Telegraf"/>
                <a:ea typeface="Telegraf"/>
                <a:cs typeface="Telegraf"/>
                <a:sym typeface="Telegraf"/>
              </a:rPr>
              <a:t>Synthesis</a:t>
            </a:r>
          </a:p>
        </p:txBody>
      </p:sp>
      <p:sp>
        <p:nvSpPr>
          <p:cNvPr name="AutoShape 3" id="3"/>
          <p:cNvSpPr/>
          <p:nvPr/>
        </p:nvSpPr>
        <p:spPr>
          <a:xfrm>
            <a:off x="1028700" y="2381250"/>
            <a:ext cx="16230600" cy="0"/>
          </a:xfrm>
          <a:prstGeom prst="line">
            <a:avLst/>
          </a:prstGeom>
          <a:ln cap="flat" w="9525">
            <a:solidFill>
              <a:srgbClr val="0A714E"/>
            </a:solidFill>
            <a:prstDash val="solid"/>
            <a:headEnd type="none" len="sm" w="sm"/>
            <a:tailEnd type="none" len="sm" w="sm"/>
          </a:ln>
        </p:spPr>
      </p:sp>
      <p:sp>
        <p:nvSpPr>
          <p:cNvPr name="Freeform 4" id="4"/>
          <p:cNvSpPr/>
          <p:nvPr/>
        </p:nvSpPr>
        <p:spPr>
          <a:xfrm flipH="false" flipV="false" rot="0">
            <a:off x="13663711" y="5980965"/>
            <a:ext cx="4624289" cy="3669272"/>
          </a:xfrm>
          <a:custGeom>
            <a:avLst/>
            <a:gdLst/>
            <a:ahLst/>
            <a:cxnLst/>
            <a:rect r="r" b="b" t="t" l="l"/>
            <a:pathLst>
              <a:path h="3669272" w="4624289">
                <a:moveTo>
                  <a:pt x="0" y="0"/>
                </a:moveTo>
                <a:lnTo>
                  <a:pt x="4624289" y="0"/>
                </a:lnTo>
                <a:lnTo>
                  <a:pt x="4624289" y="3669272"/>
                </a:lnTo>
                <a:lnTo>
                  <a:pt x="0" y="3669272"/>
                </a:lnTo>
                <a:lnTo>
                  <a:pt x="0" y="0"/>
                </a:lnTo>
                <a:close/>
              </a:path>
            </a:pathLst>
          </a:custGeom>
          <a:blipFill>
            <a:blip r:embed="rId2"/>
            <a:stretch>
              <a:fillRect l="0" t="0" r="0" b="0"/>
            </a:stretch>
          </a:blipFill>
        </p:spPr>
      </p:sp>
      <p:sp>
        <p:nvSpPr>
          <p:cNvPr name="Freeform 5" id="5"/>
          <p:cNvSpPr/>
          <p:nvPr/>
        </p:nvSpPr>
        <p:spPr>
          <a:xfrm flipH="false" flipV="false" rot="0">
            <a:off x="8010355" y="0"/>
            <a:ext cx="5928616" cy="2271712"/>
          </a:xfrm>
          <a:custGeom>
            <a:avLst/>
            <a:gdLst/>
            <a:ahLst/>
            <a:cxnLst/>
            <a:rect r="r" b="b" t="t" l="l"/>
            <a:pathLst>
              <a:path h="2271712" w="5928616">
                <a:moveTo>
                  <a:pt x="0" y="0"/>
                </a:moveTo>
                <a:lnTo>
                  <a:pt x="5928616" y="0"/>
                </a:lnTo>
                <a:lnTo>
                  <a:pt x="5928616" y="2271712"/>
                </a:lnTo>
                <a:lnTo>
                  <a:pt x="0" y="2271712"/>
                </a:lnTo>
                <a:lnTo>
                  <a:pt x="0" y="0"/>
                </a:lnTo>
                <a:close/>
              </a:path>
            </a:pathLst>
          </a:custGeom>
          <a:blipFill>
            <a:blip r:embed="rId3"/>
            <a:stretch>
              <a:fillRect l="0" t="0" r="0" b="0"/>
            </a:stretch>
          </a:blipFill>
        </p:spPr>
      </p:sp>
      <p:sp>
        <p:nvSpPr>
          <p:cNvPr name="Freeform 6" id="6"/>
          <p:cNvSpPr/>
          <p:nvPr/>
        </p:nvSpPr>
        <p:spPr>
          <a:xfrm flipH="false" flipV="false" rot="0">
            <a:off x="8010355" y="2543175"/>
            <a:ext cx="4624289" cy="2298188"/>
          </a:xfrm>
          <a:custGeom>
            <a:avLst/>
            <a:gdLst/>
            <a:ahLst/>
            <a:cxnLst/>
            <a:rect r="r" b="b" t="t" l="l"/>
            <a:pathLst>
              <a:path h="2298188" w="4624289">
                <a:moveTo>
                  <a:pt x="0" y="0"/>
                </a:moveTo>
                <a:lnTo>
                  <a:pt x="4624289" y="0"/>
                </a:lnTo>
                <a:lnTo>
                  <a:pt x="4624289" y="2298188"/>
                </a:lnTo>
                <a:lnTo>
                  <a:pt x="0" y="2298188"/>
                </a:lnTo>
                <a:lnTo>
                  <a:pt x="0" y="0"/>
                </a:lnTo>
                <a:close/>
              </a:path>
            </a:pathLst>
          </a:custGeom>
          <a:blipFill>
            <a:blip r:embed="rId4"/>
            <a:stretch>
              <a:fillRect l="0" t="0" r="0" b="0"/>
            </a:stretch>
          </a:blipFill>
        </p:spPr>
      </p:sp>
      <p:sp>
        <p:nvSpPr>
          <p:cNvPr name="Freeform 7" id="7"/>
          <p:cNvSpPr/>
          <p:nvPr/>
        </p:nvSpPr>
        <p:spPr>
          <a:xfrm flipH="false" flipV="false" rot="0">
            <a:off x="8010355" y="4942120"/>
            <a:ext cx="5412765" cy="938088"/>
          </a:xfrm>
          <a:custGeom>
            <a:avLst/>
            <a:gdLst/>
            <a:ahLst/>
            <a:cxnLst/>
            <a:rect r="r" b="b" t="t" l="l"/>
            <a:pathLst>
              <a:path h="938088" w="5412765">
                <a:moveTo>
                  <a:pt x="0" y="0"/>
                </a:moveTo>
                <a:lnTo>
                  <a:pt x="5412766" y="0"/>
                </a:lnTo>
                <a:lnTo>
                  <a:pt x="5412766" y="938088"/>
                </a:lnTo>
                <a:lnTo>
                  <a:pt x="0" y="938088"/>
                </a:lnTo>
                <a:lnTo>
                  <a:pt x="0" y="0"/>
                </a:lnTo>
                <a:close/>
              </a:path>
            </a:pathLst>
          </a:custGeom>
          <a:blipFill>
            <a:blip r:embed="rId5"/>
            <a:stretch>
              <a:fillRect l="0" t="0" r="0" b="0"/>
            </a:stretch>
          </a:blipFill>
        </p:spPr>
      </p:sp>
      <p:sp>
        <p:nvSpPr>
          <p:cNvPr name="Freeform 8" id="8"/>
          <p:cNvSpPr/>
          <p:nvPr/>
        </p:nvSpPr>
        <p:spPr>
          <a:xfrm flipH="false" flipV="false" rot="0">
            <a:off x="10958512" y="0"/>
            <a:ext cx="7329488" cy="1714500"/>
          </a:xfrm>
          <a:custGeom>
            <a:avLst/>
            <a:gdLst/>
            <a:ahLst/>
            <a:cxnLst/>
            <a:rect r="r" b="b" t="t" l="l"/>
            <a:pathLst>
              <a:path h="1714500" w="7329488">
                <a:moveTo>
                  <a:pt x="0" y="0"/>
                </a:moveTo>
                <a:lnTo>
                  <a:pt x="7329488" y="0"/>
                </a:lnTo>
                <a:lnTo>
                  <a:pt x="7329488" y="1714500"/>
                </a:lnTo>
                <a:lnTo>
                  <a:pt x="0" y="1714500"/>
                </a:lnTo>
                <a:lnTo>
                  <a:pt x="0" y="0"/>
                </a:lnTo>
                <a:close/>
              </a:path>
            </a:pathLst>
          </a:custGeom>
          <a:blipFill>
            <a:blip r:embed="rId6"/>
            <a:stretch>
              <a:fillRect l="0" t="0" r="0" b="0"/>
            </a:stretch>
          </a:blipFill>
        </p:spPr>
      </p:sp>
      <p:sp>
        <p:nvSpPr>
          <p:cNvPr name="Freeform 9" id="9"/>
          <p:cNvSpPr/>
          <p:nvPr/>
        </p:nvSpPr>
        <p:spPr>
          <a:xfrm flipH="false" flipV="false" rot="0">
            <a:off x="0" y="5980965"/>
            <a:ext cx="4554215" cy="3669272"/>
          </a:xfrm>
          <a:custGeom>
            <a:avLst/>
            <a:gdLst/>
            <a:ahLst/>
            <a:cxnLst/>
            <a:rect r="r" b="b" t="t" l="l"/>
            <a:pathLst>
              <a:path h="3669272" w="4554215">
                <a:moveTo>
                  <a:pt x="0" y="0"/>
                </a:moveTo>
                <a:lnTo>
                  <a:pt x="4554215" y="0"/>
                </a:lnTo>
                <a:lnTo>
                  <a:pt x="4554215" y="3669272"/>
                </a:lnTo>
                <a:lnTo>
                  <a:pt x="0" y="3669272"/>
                </a:lnTo>
                <a:lnTo>
                  <a:pt x="0" y="0"/>
                </a:lnTo>
                <a:close/>
              </a:path>
            </a:pathLst>
          </a:custGeom>
          <a:blipFill>
            <a:blip r:embed="rId7"/>
            <a:stretch>
              <a:fillRect l="0" t="0" r="0" b="0"/>
            </a:stretch>
          </a:blipFill>
        </p:spPr>
      </p:sp>
      <p:sp>
        <p:nvSpPr>
          <p:cNvPr name="Freeform 10" id="10"/>
          <p:cNvSpPr/>
          <p:nvPr/>
        </p:nvSpPr>
        <p:spPr>
          <a:xfrm flipH="false" flipV="false" rot="0">
            <a:off x="4554215" y="5980965"/>
            <a:ext cx="4450426" cy="3669272"/>
          </a:xfrm>
          <a:custGeom>
            <a:avLst/>
            <a:gdLst/>
            <a:ahLst/>
            <a:cxnLst/>
            <a:rect r="r" b="b" t="t" l="l"/>
            <a:pathLst>
              <a:path h="3669272" w="4450426">
                <a:moveTo>
                  <a:pt x="0" y="0"/>
                </a:moveTo>
                <a:lnTo>
                  <a:pt x="4450426" y="0"/>
                </a:lnTo>
                <a:lnTo>
                  <a:pt x="4450426" y="3669272"/>
                </a:lnTo>
                <a:lnTo>
                  <a:pt x="0" y="3669272"/>
                </a:lnTo>
                <a:lnTo>
                  <a:pt x="0" y="0"/>
                </a:lnTo>
                <a:close/>
              </a:path>
            </a:pathLst>
          </a:custGeom>
          <a:blipFill>
            <a:blip r:embed="rId8"/>
            <a:stretch>
              <a:fillRect l="0" t="0" r="0" b="0"/>
            </a:stretch>
          </a:blipFill>
        </p:spPr>
      </p:sp>
      <p:sp>
        <p:nvSpPr>
          <p:cNvPr name="Freeform 11" id="11"/>
          <p:cNvSpPr/>
          <p:nvPr/>
        </p:nvSpPr>
        <p:spPr>
          <a:xfrm flipH="false" flipV="false" rot="0">
            <a:off x="9092923" y="5980965"/>
            <a:ext cx="4570788" cy="3665255"/>
          </a:xfrm>
          <a:custGeom>
            <a:avLst/>
            <a:gdLst/>
            <a:ahLst/>
            <a:cxnLst/>
            <a:rect r="r" b="b" t="t" l="l"/>
            <a:pathLst>
              <a:path h="3665255" w="4570788">
                <a:moveTo>
                  <a:pt x="0" y="0"/>
                </a:moveTo>
                <a:lnTo>
                  <a:pt x="4570788" y="0"/>
                </a:lnTo>
                <a:lnTo>
                  <a:pt x="4570788" y="3665255"/>
                </a:lnTo>
                <a:lnTo>
                  <a:pt x="0" y="3665255"/>
                </a:lnTo>
                <a:lnTo>
                  <a:pt x="0" y="0"/>
                </a:lnTo>
                <a:close/>
              </a:path>
            </a:pathLst>
          </a:custGeom>
          <a:blipFill>
            <a:blip r:embed="rId9"/>
            <a:stretch>
              <a:fillRect l="0" t="0" r="0" b="0"/>
            </a:stretch>
          </a:blipFill>
        </p:spPr>
      </p:sp>
      <p:sp>
        <p:nvSpPr>
          <p:cNvPr name="Freeform 12" id="12"/>
          <p:cNvSpPr/>
          <p:nvPr/>
        </p:nvSpPr>
        <p:spPr>
          <a:xfrm flipH="false" flipV="false" rot="0">
            <a:off x="13938971" y="2836812"/>
            <a:ext cx="3435225" cy="1633640"/>
          </a:xfrm>
          <a:custGeom>
            <a:avLst/>
            <a:gdLst/>
            <a:ahLst/>
            <a:cxnLst/>
            <a:rect r="r" b="b" t="t" l="l"/>
            <a:pathLst>
              <a:path h="1633640" w="3435225">
                <a:moveTo>
                  <a:pt x="0" y="0"/>
                </a:moveTo>
                <a:lnTo>
                  <a:pt x="3435224" y="0"/>
                </a:lnTo>
                <a:lnTo>
                  <a:pt x="3435224" y="1633640"/>
                </a:lnTo>
                <a:lnTo>
                  <a:pt x="0" y="1633640"/>
                </a:lnTo>
                <a:lnTo>
                  <a:pt x="0" y="0"/>
                </a:lnTo>
                <a:close/>
              </a:path>
            </a:pathLst>
          </a:custGeom>
          <a:blipFill>
            <a:blip r:embed="rId10"/>
            <a:stretch>
              <a:fillRect l="0" t="0" r="0" b="0"/>
            </a:stretch>
          </a:blipFill>
        </p:spPr>
      </p:sp>
      <p:sp>
        <p:nvSpPr>
          <p:cNvPr name="TextBox 13" id="13"/>
          <p:cNvSpPr txBox="true"/>
          <p:nvPr/>
        </p:nvSpPr>
        <p:spPr>
          <a:xfrm rot="0">
            <a:off x="1028704" y="2770137"/>
            <a:ext cx="5984817" cy="27743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NLMPC was instead implemented via the hononimous matlab’s object class, thus for example it was easy to implement weights on the states, inputs and extra options like suboptimal solutions:</a:t>
            </a:r>
          </a:p>
        </p:txBody>
      </p:sp>
      <p:sp>
        <p:nvSpPr>
          <p:cNvPr name="TextBox 14" id="14"/>
          <p:cNvSpPr txBox="true"/>
          <p:nvPr/>
        </p:nvSpPr>
        <p:spPr>
          <a:xfrm rot="0">
            <a:off x="17259300" y="9583562"/>
            <a:ext cx="229791" cy="4883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8</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4" y="1095375"/>
            <a:ext cx="16230596" cy="1304925"/>
          </a:xfrm>
          <a:prstGeom prst="rect">
            <a:avLst/>
          </a:prstGeom>
        </p:spPr>
        <p:txBody>
          <a:bodyPr anchor="t" rtlCol="false" tIns="0" lIns="0" bIns="0" rIns="0">
            <a:spAutoFit/>
          </a:bodyPr>
          <a:lstStyle/>
          <a:p>
            <a:pPr algn="l">
              <a:lnSpc>
                <a:spcPts val="9000"/>
              </a:lnSpc>
            </a:pPr>
            <a:r>
              <a:rPr lang="en-US" sz="9000">
                <a:solidFill>
                  <a:srgbClr val="0A714E"/>
                </a:solidFill>
                <a:latin typeface="Telegraf"/>
                <a:ea typeface="Telegraf"/>
                <a:cs typeface="Telegraf"/>
                <a:sym typeface="Telegraf"/>
              </a:rPr>
              <a:t>Robustness</a:t>
            </a:r>
          </a:p>
        </p:txBody>
      </p:sp>
      <p:sp>
        <p:nvSpPr>
          <p:cNvPr name="AutoShape 3" id="3"/>
          <p:cNvSpPr/>
          <p:nvPr/>
        </p:nvSpPr>
        <p:spPr>
          <a:xfrm>
            <a:off x="1028700" y="2381250"/>
            <a:ext cx="16230600" cy="0"/>
          </a:xfrm>
          <a:prstGeom prst="line">
            <a:avLst/>
          </a:prstGeom>
          <a:ln cap="flat" w="9525">
            <a:solidFill>
              <a:srgbClr val="0A714E"/>
            </a:solidFill>
            <a:prstDash val="solid"/>
            <a:headEnd type="none" len="sm" w="sm"/>
            <a:tailEnd type="none" len="sm" w="sm"/>
          </a:ln>
        </p:spPr>
      </p:sp>
      <p:sp>
        <p:nvSpPr>
          <p:cNvPr name="Freeform 4" id="4"/>
          <p:cNvSpPr/>
          <p:nvPr/>
        </p:nvSpPr>
        <p:spPr>
          <a:xfrm flipH="false" flipV="false" rot="0">
            <a:off x="11712570" y="7568632"/>
            <a:ext cx="4019923" cy="1973746"/>
          </a:xfrm>
          <a:custGeom>
            <a:avLst/>
            <a:gdLst/>
            <a:ahLst/>
            <a:cxnLst/>
            <a:rect r="r" b="b" t="t" l="l"/>
            <a:pathLst>
              <a:path h="1973746" w="4019923">
                <a:moveTo>
                  <a:pt x="0" y="0"/>
                </a:moveTo>
                <a:lnTo>
                  <a:pt x="4019924" y="0"/>
                </a:lnTo>
                <a:lnTo>
                  <a:pt x="4019924" y="1973746"/>
                </a:lnTo>
                <a:lnTo>
                  <a:pt x="0" y="1973746"/>
                </a:lnTo>
                <a:lnTo>
                  <a:pt x="0" y="0"/>
                </a:lnTo>
                <a:close/>
              </a:path>
            </a:pathLst>
          </a:custGeom>
          <a:blipFill>
            <a:blip r:embed="rId2"/>
            <a:stretch>
              <a:fillRect l="0" t="0" r="0" b="0"/>
            </a:stretch>
          </a:blipFill>
        </p:spPr>
      </p:sp>
      <p:sp>
        <p:nvSpPr>
          <p:cNvPr name="Freeform 5" id="5"/>
          <p:cNvSpPr/>
          <p:nvPr/>
        </p:nvSpPr>
        <p:spPr>
          <a:xfrm flipH="false" flipV="false" rot="0">
            <a:off x="2566375" y="7547377"/>
            <a:ext cx="4116674" cy="1985476"/>
          </a:xfrm>
          <a:custGeom>
            <a:avLst/>
            <a:gdLst/>
            <a:ahLst/>
            <a:cxnLst/>
            <a:rect r="r" b="b" t="t" l="l"/>
            <a:pathLst>
              <a:path h="1985476" w="4116674">
                <a:moveTo>
                  <a:pt x="0" y="0"/>
                </a:moveTo>
                <a:lnTo>
                  <a:pt x="4116674" y="0"/>
                </a:lnTo>
                <a:lnTo>
                  <a:pt x="4116674" y="1985476"/>
                </a:lnTo>
                <a:lnTo>
                  <a:pt x="0" y="1985476"/>
                </a:lnTo>
                <a:lnTo>
                  <a:pt x="0" y="0"/>
                </a:lnTo>
                <a:close/>
              </a:path>
            </a:pathLst>
          </a:custGeom>
          <a:blipFill>
            <a:blip r:embed="rId3"/>
            <a:stretch>
              <a:fillRect l="0" t="0" r="0" b="0"/>
            </a:stretch>
          </a:blipFill>
        </p:spPr>
      </p:sp>
      <p:sp>
        <p:nvSpPr>
          <p:cNvPr name="Freeform 6" id="6"/>
          <p:cNvSpPr/>
          <p:nvPr/>
        </p:nvSpPr>
        <p:spPr>
          <a:xfrm flipH="false" flipV="false" rot="0">
            <a:off x="13801800" y="3573133"/>
            <a:ext cx="4486200" cy="3678970"/>
          </a:xfrm>
          <a:custGeom>
            <a:avLst/>
            <a:gdLst/>
            <a:ahLst/>
            <a:cxnLst/>
            <a:rect r="r" b="b" t="t" l="l"/>
            <a:pathLst>
              <a:path h="3678970" w="4486200">
                <a:moveTo>
                  <a:pt x="0" y="0"/>
                </a:moveTo>
                <a:lnTo>
                  <a:pt x="4486200" y="0"/>
                </a:lnTo>
                <a:lnTo>
                  <a:pt x="4486200" y="3678969"/>
                </a:lnTo>
                <a:lnTo>
                  <a:pt x="0" y="3678969"/>
                </a:lnTo>
                <a:lnTo>
                  <a:pt x="0" y="0"/>
                </a:lnTo>
                <a:close/>
              </a:path>
            </a:pathLst>
          </a:custGeom>
          <a:blipFill>
            <a:blip r:embed="rId4"/>
            <a:stretch>
              <a:fillRect l="0" t="0" r="0" b="0"/>
            </a:stretch>
          </a:blipFill>
        </p:spPr>
      </p:sp>
      <p:sp>
        <p:nvSpPr>
          <p:cNvPr name="Freeform 7" id="7"/>
          <p:cNvSpPr/>
          <p:nvPr/>
        </p:nvSpPr>
        <p:spPr>
          <a:xfrm flipH="false" flipV="false" rot="0">
            <a:off x="9235397" y="3569754"/>
            <a:ext cx="4566403" cy="3682348"/>
          </a:xfrm>
          <a:custGeom>
            <a:avLst/>
            <a:gdLst/>
            <a:ahLst/>
            <a:cxnLst/>
            <a:rect r="r" b="b" t="t" l="l"/>
            <a:pathLst>
              <a:path h="3682348" w="4566403">
                <a:moveTo>
                  <a:pt x="0" y="0"/>
                </a:moveTo>
                <a:lnTo>
                  <a:pt x="4566403" y="0"/>
                </a:lnTo>
                <a:lnTo>
                  <a:pt x="4566403" y="3682348"/>
                </a:lnTo>
                <a:lnTo>
                  <a:pt x="0" y="3682348"/>
                </a:lnTo>
                <a:lnTo>
                  <a:pt x="0" y="0"/>
                </a:lnTo>
                <a:close/>
              </a:path>
            </a:pathLst>
          </a:custGeom>
          <a:blipFill>
            <a:blip r:embed="rId5"/>
            <a:stretch>
              <a:fillRect l="0" t="0" r="0" b="0"/>
            </a:stretch>
          </a:blipFill>
        </p:spPr>
      </p:sp>
      <p:sp>
        <p:nvSpPr>
          <p:cNvPr name="Freeform 8" id="8"/>
          <p:cNvSpPr/>
          <p:nvPr/>
        </p:nvSpPr>
        <p:spPr>
          <a:xfrm flipH="false" flipV="false" rot="0">
            <a:off x="4538610" y="3569754"/>
            <a:ext cx="4499843" cy="3682348"/>
          </a:xfrm>
          <a:custGeom>
            <a:avLst/>
            <a:gdLst/>
            <a:ahLst/>
            <a:cxnLst/>
            <a:rect r="r" b="b" t="t" l="l"/>
            <a:pathLst>
              <a:path h="3682348" w="4499843">
                <a:moveTo>
                  <a:pt x="0" y="0"/>
                </a:moveTo>
                <a:lnTo>
                  <a:pt x="4499843" y="0"/>
                </a:lnTo>
                <a:lnTo>
                  <a:pt x="4499843" y="3682348"/>
                </a:lnTo>
                <a:lnTo>
                  <a:pt x="0" y="3682348"/>
                </a:lnTo>
                <a:lnTo>
                  <a:pt x="0" y="0"/>
                </a:lnTo>
                <a:close/>
              </a:path>
            </a:pathLst>
          </a:custGeom>
          <a:blipFill>
            <a:blip r:embed="rId6"/>
            <a:stretch>
              <a:fillRect l="0" t="0" r="0" b="0"/>
            </a:stretch>
          </a:blipFill>
        </p:spPr>
      </p:sp>
      <p:sp>
        <p:nvSpPr>
          <p:cNvPr name="Freeform 9" id="9"/>
          <p:cNvSpPr/>
          <p:nvPr/>
        </p:nvSpPr>
        <p:spPr>
          <a:xfrm flipH="false" flipV="false" rot="0">
            <a:off x="0" y="3573133"/>
            <a:ext cx="4538610" cy="3678970"/>
          </a:xfrm>
          <a:custGeom>
            <a:avLst/>
            <a:gdLst/>
            <a:ahLst/>
            <a:cxnLst/>
            <a:rect r="r" b="b" t="t" l="l"/>
            <a:pathLst>
              <a:path h="3678970" w="4538610">
                <a:moveTo>
                  <a:pt x="0" y="0"/>
                </a:moveTo>
                <a:lnTo>
                  <a:pt x="4538610" y="0"/>
                </a:lnTo>
                <a:lnTo>
                  <a:pt x="4538610" y="3678969"/>
                </a:lnTo>
                <a:lnTo>
                  <a:pt x="0" y="3678969"/>
                </a:lnTo>
                <a:lnTo>
                  <a:pt x="0" y="0"/>
                </a:lnTo>
                <a:close/>
              </a:path>
            </a:pathLst>
          </a:custGeom>
          <a:blipFill>
            <a:blip r:embed="rId7"/>
            <a:stretch>
              <a:fillRect l="0" t="0" r="0" b="0"/>
            </a:stretch>
          </a:blipFill>
        </p:spPr>
      </p:sp>
      <p:sp>
        <p:nvSpPr>
          <p:cNvPr name="TextBox 10" id="10"/>
          <p:cNvSpPr txBox="true"/>
          <p:nvPr/>
        </p:nvSpPr>
        <p:spPr>
          <a:xfrm rot="0">
            <a:off x="661018" y="2627617"/>
            <a:ext cx="17094045" cy="9455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The first unpredicted situation that was considered consists in taking into account also the mass of each person sitting next to each wheel, on the left there’s LQR and on the right NLMPC:</a:t>
            </a:r>
          </a:p>
        </p:txBody>
      </p:sp>
      <p:sp>
        <p:nvSpPr>
          <p:cNvPr name="TextBox 11" id="11"/>
          <p:cNvSpPr txBox="true"/>
          <p:nvPr/>
        </p:nvSpPr>
        <p:spPr>
          <a:xfrm rot="0">
            <a:off x="17259300" y="9583562"/>
            <a:ext cx="234315" cy="4883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9</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4" y="1095375"/>
            <a:ext cx="16230596" cy="1304925"/>
          </a:xfrm>
          <a:prstGeom prst="rect">
            <a:avLst/>
          </a:prstGeom>
        </p:spPr>
        <p:txBody>
          <a:bodyPr anchor="t" rtlCol="false" tIns="0" lIns="0" bIns="0" rIns="0">
            <a:spAutoFit/>
          </a:bodyPr>
          <a:lstStyle/>
          <a:p>
            <a:pPr algn="l">
              <a:lnSpc>
                <a:spcPts val="9000"/>
              </a:lnSpc>
            </a:pPr>
            <a:r>
              <a:rPr lang="en-US" sz="9000">
                <a:solidFill>
                  <a:srgbClr val="0A714E"/>
                </a:solidFill>
                <a:latin typeface="Telegraf"/>
                <a:ea typeface="Telegraf"/>
                <a:cs typeface="Telegraf"/>
                <a:sym typeface="Telegraf"/>
              </a:rPr>
              <a:t>Robustness</a:t>
            </a:r>
          </a:p>
        </p:txBody>
      </p:sp>
      <p:sp>
        <p:nvSpPr>
          <p:cNvPr name="AutoShape 3" id="3"/>
          <p:cNvSpPr/>
          <p:nvPr/>
        </p:nvSpPr>
        <p:spPr>
          <a:xfrm>
            <a:off x="1028700" y="2381250"/>
            <a:ext cx="16230600" cy="0"/>
          </a:xfrm>
          <a:prstGeom prst="line">
            <a:avLst/>
          </a:prstGeom>
          <a:ln cap="flat" w="9525">
            <a:solidFill>
              <a:srgbClr val="0A714E"/>
            </a:solidFill>
            <a:prstDash val="solid"/>
            <a:headEnd type="none" len="sm" w="sm"/>
            <a:tailEnd type="none" len="sm" w="sm"/>
          </a:ln>
        </p:spPr>
      </p:sp>
      <p:sp>
        <p:nvSpPr>
          <p:cNvPr name="Freeform 4" id="4"/>
          <p:cNvSpPr/>
          <p:nvPr/>
        </p:nvSpPr>
        <p:spPr>
          <a:xfrm flipH="false" flipV="false" rot="0">
            <a:off x="2771260" y="7481194"/>
            <a:ext cx="3634989" cy="1777106"/>
          </a:xfrm>
          <a:custGeom>
            <a:avLst/>
            <a:gdLst/>
            <a:ahLst/>
            <a:cxnLst/>
            <a:rect r="r" b="b" t="t" l="l"/>
            <a:pathLst>
              <a:path h="1777106" w="3634989">
                <a:moveTo>
                  <a:pt x="0" y="0"/>
                </a:moveTo>
                <a:lnTo>
                  <a:pt x="3634988" y="0"/>
                </a:lnTo>
                <a:lnTo>
                  <a:pt x="3634988" y="1777106"/>
                </a:lnTo>
                <a:lnTo>
                  <a:pt x="0" y="1777106"/>
                </a:lnTo>
                <a:lnTo>
                  <a:pt x="0" y="0"/>
                </a:lnTo>
                <a:close/>
              </a:path>
            </a:pathLst>
          </a:custGeom>
          <a:blipFill>
            <a:blip r:embed="rId2"/>
            <a:stretch>
              <a:fillRect l="0" t="0" r="0" b="0"/>
            </a:stretch>
          </a:blipFill>
        </p:spPr>
      </p:sp>
      <p:sp>
        <p:nvSpPr>
          <p:cNvPr name="Freeform 5" id="5"/>
          <p:cNvSpPr/>
          <p:nvPr/>
        </p:nvSpPr>
        <p:spPr>
          <a:xfrm flipH="false" flipV="false" rot="0">
            <a:off x="12131247" y="7481194"/>
            <a:ext cx="3522758" cy="1777106"/>
          </a:xfrm>
          <a:custGeom>
            <a:avLst/>
            <a:gdLst/>
            <a:ahLst/>
            <a:cxnLst/>
            <a:rect r="r" b="b" t="t" l="l"/>
            <a:pathLst>
              <a:path h="1777106" w="3522758">
                <a:moveTo>
                  <a:pt x="0" y="0"/>
                </a:moveTo>
                <a:lnTo>
                  <a:pt x="3522758" y="0"/>
                </a:lnTo>
                <a:lnTo>
                  <a:pt x="3522758" y="1777106"/>
                </a:lnTo>
                <a:lnTo>
                  <a:pt x="0" y="1777106"/>
                </a:lnTo>
                <a:lnTo>
                  <a:pt x="0" y="0"/>
                </a:lnTo>
                <a:close/>
              </a:path>
            </a:pathLst>
          </a:custGeom>
          <a:blipFill>
            <a:blip r:embed="rId3"/>
            <a:stretch>
              <a:fillRect l="0" t="0" r="0" b="0"/>
            </a:stretch>
          </a:blipFill>
        </p:spPr>
      </p:sp>
      <p:sp>
        <p:nvSpPr>
          <p:cNvPr name="Freeform 6" id="6"/>
          <p:cNvSpPr/>
          <p:nvPr/>
        </p:nvSpPr>
        <p:spPr>
          <a:xfrm flipH="false" flipV="false" rot="0">
            <a:off x="0" y="3573133"/>
            <a:ext cx="4609618" cy="3678970"/>
          </a:xfrm>
          <a:custGeom>
            <a:avLst/>
            <a:gdLst/>
            <a:ahLst/>
            <a:cxnLst/>
            <a:rect r="r" b="b" t="t" l="l"/>
            <a:pathLst>
              <a:path h="3678970" w="4609618">
                <a:moveTo>
                  <a:pt x="0" y="0"/>
                </a:moveTo>
                <a:lnTo>
                  <a:pt x="4609618" y="0"/>
                </a:lnTo>
                <a:lnTo>
                  <a:pt x="4609618" y="3678969"/>
                </a:lnTo>
                <a:lnTo>
                  <a:pt x="0" y="3678969"/>
                </a:lnTo>
                <a:lnTo>
                  <a:pt x="0" y="0"/>
                </a:lnTo>
                <a:close/>
              </a:path>
            </a:pathLst>
          </a:custGeom>
          <a:blipFill>
            <a:blip r:embed="rId4"/>
            <a:stretch>
              <a:fillRect l="0" t="0" r="0" b="0"/>
            </a:stretch>
          </a:blipFill>
        </p:spPr>
      </p:sp>
      <p:sp>
        <p:nvSpPr>
          <p:cNvPr name="Freeform 7" id="7"/>
          <p:cNvSpPr/>
          <p:nvPr/>
        </p:nvSpPr>
        <p:spPr>
          <a:xfrm flipH="false" flipV="false" rot="0">
            <a:off x="4609618" y="3573133"/>
            <a:ext cx="4498115" cy="3678970"/>
          </a:xfrm>
          <a:custGeom>
            <a:avLst/>
            <a:gdLst/>
            <a:ahLst/>
            <a:cxnLst/>
            <a:rect r="r" b="b" t="t" l="l"/>
            <a:pathLst>
              <a:path h="3678970" w="4498115">
                <a:moveTo>
                  <a:pt x="0" y="0"/>
                </a:moveTo>
                <a:lnTo>
                  <a:pt x="4498115" y="0"/>
                </a:lnTo>
                <a:lnTo>
                  <a:pt x="4498115" y="3678969"/>
                </a:lnTo>
                <a:lnTo>
                  <a:pt x="0" y="3678969"/>
                </a:lnTo>
                <a:lnTo>
                  <a:pt x="0" y="0"/>
                </a:lnTo>
                <a:close/>
              </a:path>
            </a:pathLst>
          </a:custGeom>
          <a:blipFill>
            <a:blip r:embed="rId5"/>
            <a:stretch>
              <a:fillRect l="0" t="0" r="0" b="0"/>
            </a:stretch>
          </a:blipFill>
        </p:spPr>
      </p:sp>
      <p:sp>
        <p:nvSpPr>
          <p:cNvPr name="Freeform 8" id="8"/>
          <p:cNvSpPr/>
          <p:nvPr/>
        </p:nvSpPr>
        <p:spPr>
          <a:xfrm flipH="false" flipV="false" rot="0">
            <a:off x="13768328" y="3573133"/>
            <a:ext cx="4519672" cy="3678970"/>
          </a:xfrm>
          <a:custGeom>
            <a:avLst/>
            <a:gdLst/>
            <a:ahLst/>
            <a:cxnLst/>
            <a:rect r="r" b="b" t="t" l="l"/>
            <a:pathLst>
              <a:path h="3678970" w="4519672">
                <a:moveTo>
                  <a:pt x="0" y="0"/>
                </a:moveTo>
                <a:lnTo>
                  <a:pt x="4519672" y="0"/>
                </a:lnTo>
                <a:lnTo>
                  <a:pt x="4519672" y="3678969"/>
                </a:lnTo>
                <a:lnTo>
                  <a:pt x="0" y="3678969"/>
                </a:lnTo>
                <a:lnTo>
                  <a:pt x="0" y="0"/>
                </a:lnTo>
                <a:close/>
              </a:path>
            </a:pathLst>
          </a:custGeom>
          <a:blipFill>
            <a:blip r:embed="rId6"/>
            <a:stretch>
              <a:fillRect l="0" t="0" r="0" b="0"/>
            </a:stretch>
          </a:blipFill>
        </p:spPr>
      </p:sp>
      <p:sp>
        <p:nvSpPr>
          <p:cNvPr name="Freeform 9" id="9"/>
          <p:cNvSpPr/>
          <p:nvPr/>
        </p:nvSpPr>
        <p:spPr>
          <a:xfrm flipH="false" flipV="false" rot="0">
            <a:off x="9263028" y="3573133"/>
            <a:ext cx="4505301" cy="3678970"/>
          </a:xfrm>
          <a:custGeom>
            <a:avLst/>
            <a:gdLst/>
            <a:ahLst/>
            <a:cxnLst/>
            <a:rect r="r" b="b" t="t" l="l"/>
            <a:pathLst>
              <a:path h="3678970" w="4505301">
                <a:moveTo>
                  <a:pt x="0" y="0"/>
                </a:moveTo>
                <a:lnTo>
                  <a:pt x="4505300" y="0"/>
                </a:lnTo>
                <a:lnTo>
                  <a:pt x="4505300" y="3678969"/>
                </a:lnTo>
                <a:lnTo>
                  <a:pt x="0" y="3678969"/>
                </a:lnTo>
                <a:lnTo>
                  <a:pt x="0" y="0"/>
                </a:lnTo>
                <a:close/>
              </a:path>
            </a:pathLst>
          </a:custGeom>
          <a:blipFill>
            <a:blip r:embed="rId7"/>
            <a:stretch>
              <a:fillRect l="0" t="0" r="0" b="0"/>
            </a:stretch>
          </a:blipFill>
        </p:spPr>
      </p:sp>
      <p:sp>
        <p:nvSpPr>
          <p:cNvPr name="TextBox 10" id="10"/>
          <p:cNvSpPr txBox="true"/>
          <p:nvPr/>
        </p:nvSpPr>
        <p:spPr>
          <a:xfrm rot="0">
            <a:off x="0" y="2525708"/>
            <a:ext cx="18288000" cy="4883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The secont situation consistes in adding to the control system the noise from the road sensor (3mm):</a:t>
            </a:r>
          </a:p>
        </p:txBody>
      </p:sp>
      <p:sp>
        <p:nvSpPr>
          <p:cNvPr name="TextBox 11" id="11"/>
          <p:cNvSpPr txBox="true"/>
          <p:nvPr/>
        </p:nvSpPr>
        <p:spPr>
          <a:xfrm rot="0">
            <a:off x="17259300" y="9583562"/>
            <a:ext cx="441246" cy="4883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10</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4" y="1095375"/>
            <a:ext cx="16230596" cy="1304925"/>
          </a:xfrm>
          <a:prstGeom prst="rect">
            <a:avLst/>
          </a:prstGeom>
        </p:spPr>
        <p:txBody>
          <a:bodyPr anchor="t" rtlCol="false" tIns="0" lIns="0" bIns="0" rIns="0">
            <a:spAutoFit/>
          </a:bodyPr>
          <a:lstStyle/>
          <a:p>
            <a:pPr algn="l">
              <a:lnSpc>
                <a:spcPts val="9000"/>
              </a:lnSpc>
            </a:pPr>
            <a:r>
              <a:rPr lang="en-US" sz="9000">
                <a:solidFill>
                  <a:srgbClr val="0A714E"/>
                </a:solidFill>
                <a:latin typeface="Telegraf"/>
                <a:ea typeface="Telegraf"/>
                <a:cs typeface="Telegraf"/>
                <a:sym typeface="Telegraf"/>
              </a:rPr>
              <a:t>Conclusions</a:t>
            </a:r>
          </a:p>
        </p:txBody>
      </p:sp>
      <p:sp>
        <p:nvSpPr>
          <p:cNvPr name="AutoShape 3" id="3"/>
          <p:cNvSpPr/>
          <p:nvPr/>
        </p:nvSpPr>
        <p:spPr>
          <a:xfrm>
            <a:off x="1028700" y="2381250"/>
            <a:ext cx="16230600" cy="0"/>
          </a:xfrm>
          <a:prstGeom prst="line">
            <a:avLst/>
          </a:prstGeom>
          <a:ln cap="flat" w="9525">
            <a:solidFill>
              <a:srgbClr val="0A714E"/>
            </a:solidFill>
            <a:prstDash val="solid"/>
            <a:headEnd type="none" len="sm" w="sm"/>
            <a:tailEnd type="none" len="sm" w="sm"/>
          </a:ln>
        </p:spPr>
      </p:sp>
      <p:sp>
        <p:nvSpPr>
          <p:cNvPr name="TextBox 4" id="4"/>
          <p:cNvSpPr txBox="true"/>
          <p:nvPr/>
        </p:nvSpPr>
        <p:spPr>
          <a:xfrm rot="0">
            <a:off x="2" y="2540066"/>
            <a:ext cx="18288000" cy="46031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The optimality of the choosen controllers seems to perform really fine with respect to the passive system, even LQR. The main advantage of NLMPC is the prediction capabilities, by which it can act better and with a lower force.</a:t>
            </a:r>
          </a:p>
          <a:p>
            <a:pPr algn="just">
              <a:lnSpc>
                <a:spcPts val="3639"/>
              </a:lnSpc>
            </a:pPr>
            <a:r>
              <a:rPr lang="en-US" sz="2799" b="true">
                <a:solidFill>
                  <a:srgbClr val="444142"/>
                </a:solidFill>
                <a:latin typeface="Telegraf Bold"/>
                <a:ea typeface="Telegraf Bold"/>
                <a:cs typeface="Telegraf Bold"/>
                <a:sym typeface="Telegraf Bold"/>
              </a:rPr>
              <a:t>The uncertainty of the parameters affect the force mainly, without losing performance, but one problem that could arise is the saturation, that gets worse with a greater weight of the car but also with a worse and bigger amplitude of the road profile.</a:t>
            </a:r>
          </a:p>
          <a:p>
            <a:pPr algn="just">
              <a:lnSpc>
                <a:spcPts val="3639"/>
              </a:lnSpc>
            </a:pPr>
            <a:r>
              <a:rPr lang="en-US" sz="2799" b="true">
                <a:solidFill>
                  <a:srgbClr val="444142"/>
                </a:solidFill>
                <a:latin typeface="Telegraf Bold"/>
                <a:ea typeface="Telegraf Bold"/>
                <a:cs typeface="Telegraf Bold"/>
                <a:sym typeface="Telegraf Bold"/>
              </a:rPr>
              <a:t>The sensor’s noise instead is more critical, so there is the need to treat appropriately this kind of problem, because it generates greater vibrations.</a:t>
            </a:r>
          </a:p>
          <a:p>
            <a:pPr algn="just">
              <a:lnSpc>
                <a:spcPts val="3639"/>
              </a:lnSpc>
            </a:pPr>
            <a:r>
              <a:rPr lang="en-US" sz="2799" b="true">
                <a:solidFill>
                  <a:srgbClr val="444142"/>
                </a:solidFill>
                <a:latin typeface="Telegraf Bold"/>
                <a:ea typeface="Telegraf Bold"/>
                <a:cs typeface="Telegraf Bold"/>
                <a:sym typeface="Telegraf Bold"/>
              </a:rPr>
              <a:t>Since by construction the wheel tends to follow the road profile, here’s the comparison in terms of the RMS of the car’s position (up) and acceleration (low) respectively of LQR (left) and NLMPC (right):</a:t>
            </a:r>
          </a:p>
        </p:txBody>
      </p:sp>
      <p:sp>
        <p:nvSpPr>
          <p:cNvPr name="Freeform 5" id="5"/>
          <p:cNvSpPr/>
          <p:nvPr/>
        </p:nvSpPr>
        <p:spPr>
          <a:xfrm flipH="false" flipV="false" rot="0">
            <a:off x="5079547" y="7143181"/>
            <a:ext cx="7349102" cy="1103111"/>
          </a:xfrm>
          <a:custGeom>
            <a:avLst/>
            <a:gdLst/>
            <a:ahLst/>
            <a:cxnLst/>
            <a:rect r="r" b="b" t="t" l="l"/>
            <a:pathLst>
              <a:path h="1103111" w="7349102">
                <a:moveTo>
                  <a:pt x="0" y="0"/>
                </a:moveTo>
                <a:lnTo>
                  <a:pt x="7349103" y="0"/>
                </a:lnTo>
                <a:lnTo>
                  <a:pt x="7349103" y="1103111"/>
                </a:lnTo>
                <a:lnTo>
                  <a:pt x="0" y="1103111"/>
                </a:lnTo>
                <a:lnTo>
                  <a:pt x="0" y="0"/>
                </a:lnTo>
                <a:close/>
              </a:path>
            </a:pathLst>
          </a:custGeom>
          <a:blipFill>
            <a:blip r:embed="rId2"/>
            <a:stretch>
              <a:fillRect l="0" t="0" r="0" b="0"/>
            </a:stretch>
          </a:blipFill>
        </p:spPr>
      </p:sp>
      <p:sp>
        <p:nvSpPr>
          <p:cNvPr name="Freeform 6" id="6"/>
          <p:cNvSpPr/>
          <p:nvPr/>
        </p:nvSpPr>
        <p:spPr>
          <a:xfrm flipH="false" flipV="false" rot="0">
            <a:off x="1028700" y="8180891"/>
            <a:ext cx="6621713" cy="686397"/>
          </a:xfrm>
          <a:custGeom>
            <a:avLst/>
            <a:gdLst/>
            <a:ahLst/>
            <a:cxnLst/>
            <a:rect r="r" b="b" t="t" l="l"/>
            <a:pathLst>
              <a:path h="686397" w="6621713">
                <a:moveTo>
                  <a:pt x="0" y="0"/>
                </a:moveTo>
                <a:lnTo>
                  <a:pt x="6621713" y="0"/>
                </a:lnTo>
                <a:lnTo>
                  <a:pt x="6621713" y="686397"/>
                </a:lnTo>
                <a:lnTo>
                  <a:pt x="0" y="686397"/>
                </a:lnTo>
                <a:lnTo>
                  <a:pt x="0" y="0"/>
                </a:lnTo>
                <a:close/>
              </a:path>
            </a:pathLst>
          </a:custGeom>
          <a:blipFill>
            <a:blip r:embed="rId3"/>
            <a:stretch>
              <a:fillRect l="0" t="0" r="0" b="0"/>
            </a:stretch>
          </a:blipFill>
        </p:spPr>
      </p:sp>
      <p:sp>
        <p:nvSpPr>
          <p:cNvPr name="Freeform 7" id="7"/>
          <p:cNvSpPr/>
          <p:nvPr/>
        </p:nvSpPr>
        <p:spPr>
          <a:xfrm flipH="false" flipV="false" rot="0">
            <a:off x="1028700" y="8980101"/>
            <a:ext cx="6621709" cy="659479"/>
          </a:xfrm>
          <a:custGeom>
            <a:avLst/>
            <a:gdLst/>
            <a:ahLst/>
            <a:cxnLst/>
            <a:rect r="r" b="b" t="t" l="l"/>
            <a:pathLst>
              <a:path h="659479" w="6621709">
                <a:moveTo>
                  <a:pt x="0" y="0"/>
                </a:moveTo>
                <a:lnTo>
                  <a:pt x="6621709" y="0"/>
                </a:lnTo>
                <a:lnTo>
                  <a:pt x="6621709" y="659479"/>
                </a:lnTo>
                <a:lnTo>
                  <a:pt x="0" y="659479"/>
                </a:lnTo>
                <a:lnTo>
                  <a:pt x="0" y="0"/>
                </a:lnTo>
                <a:close/>
              </a:path>
            </a:pathLst>
          </a:custGeom>
          <a:blipFill>
            <a:blip r:embed="rId4"/>
            <a:stretch>
              <a:fillRect l="0" t="0" r="0" b="0"/>
            </a:stretch>
          </a:blipFill>
        </p:spPr>
      </p:sp>
      <p:sp>
        <p:nvSpPr>
          <p:cNvPr name="Freeform 8" id="8"/>
          <p:cNvSpPr/>
          <p:nvPr/>
        </p:nvSpPr>
        <p:spPr>
          <a:xfrm flipH="false" flipV="false" rot="0">
            <a:off x="10450432" y="8153198"/>
            <a:ext cx="6829517" cy="741783"/>
          </a:xfrm>
          <a:custGeom>
            <a:avLst/>
            <a:gdLst/>
            <a:ahLst/>
            <a:cxnLst/>
            <a:rect r="r" b="b" t="t" l="l"/>
            <a:pathLst>
              <a:path h="741783" w="6829517">
                <a:moveTo>
                  <a:pt x="0" y="0"/>
                </a:moveTo>
                <a:lnTo>
                  <a:pt x="6829517" y="0"/>
                </a:lnTo>
                <a:lnTo>
                  <a:pt x="6829517" y="741783"/>
                </a:lnTo>
                <a:lnTo>
                  <a:pt x="0" y="741783"/>
                </a:lnTo>
                <a:lnTo>
                  <a:pt x="0" y="0"/>
                </a:lnTo>
                <a:close/>
              </a:path>
            </a:pathLst>
          </a:custGeom>
          <a:blipFill>
            <a:blip r:embed="rId5"/>
            <a:stretch>
              <a:fillRect l="0" t="0" r="0" b="0"/>
            </a:stretch>
          </a:blipFill>
        </p:spPr>
      </p:sp>
      <p:sp>
        <p:nvSpPr>
          <p:cNvPr name="Freeform 9" id="9"/>
          <p:cNvSpPr/>
          <p:nvPr/>
        </p:nvSpPr>
        <p:spPr>
          <a:xfrm flipH="false" flipV="false" rot="0">
            <a:off x="10450432" y="8894981"/>
            <a:ext cx="6808868" cy="651505"/>
          </a:xfrm>
          <a:custGeom>
            <a:avLst/>
            <a:gdLst/>
            <a:ahLst/>
            <a:cxnLst/>
            <a:rect r="r" b="b" t="t" l="l"/>
            <a:pathLst>
              <a:path h="651505" w="6808868">
                <a:moveTo>
                  <a:pt x="0" y="0"/>
                </a:moveTo>
                <a:lnTo>
                  <a:pt x="6808868" y="0"/>
                </a:lnTo>
                <a:lnTo>
                  <a:pt x="6808868" y="651505"/>
                </a:lnTo>
                <a:lnTo>
                  <a:pt x="0" y="651505"/>
                </a:lnTo>
                <a:lnTo>
                  <a:pt x="0" y="0"/>
                </a:lnTo>
                <a:close/>
              </a:path>
            </a:pathLst>
          </a:custGeom>
          <a:blipFill>
            <a:blip r:embed="rId6"/>
            <a:stretch>
              <a:fillRect l="0" t="0" r="0" b="0"/>
            </a:stretch>
          </a:blipFill>
        </p:spPr>
      </p:sp>
      <p:sp>
        <p:nvSpPr>
          <p:cNvPr name="TextBox 10" id="10"/>
          <p:cNvSpPr txBox="true"/>
          <p:nvPr/>
        </p:nvSpPr>
        <p:spPr>
          <a:xfrm rot="0">
            <a:off x="17259300" y="9583562"/>
            <a:ext cx="369808" cy="488315"/>
          </a:xfrm>
          <a:prstGeom prst="rect">
            <a:avLst/>
          </a:prstGeom>
        </p:spPr>
        <p:txBody>
          <a:bodyPr anchor="t" rtlCol="false" tIns="0" lIns="0" bIns="0" rIns="0">
            <a:spAutoFit/>
          </a:bodyPr>
          <a:lstStyle/>
          <a:p>
            <a:pPr algn="just">
              <a:lnSpc>
                <a:spcPts val="3639"/>
              </a:lnSpc>
            </a:pPr>
            <a:r>
              <a:rPr lang="en-US" sz="2799" b="true">
                <a:solidFill>
                  <a:srgbClr val="444142"/>
                </a:solidFill>
                <a:latin typeface="Telegraf Bold"/>
                <a:ea typeface="Telegraf Bold"/>
                <a:cs typeface="Telegraf Bold"/>
                <a:sym typeface="Telegraf Bold"/>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DAHCKJEyP5M</dc:identifier>
  <dcterms:modified xsi:type="dcterms:W3CDTF">2011-08-01T06:04:30Z</dcterms:modified>
  <cp:revision>1</cp:revision>
  <dc:title>Presentation_NLDC_Arsen_Hudyma</dc:title>
</cp:coreProperties>
</file>